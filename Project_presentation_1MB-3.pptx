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5F7FA"/>
        </a:solidFill>
      </p:bgPr>
    </p:bg>
    <p:spTree>
      <p:nvGrpSpPr>
        <p:cNvPr id="1" name=""/>
        <p:cNvGrpSpPr/>
        <p:nvPr/>
      </p:nvGrpSpPr>
      <p:grpSpPr>
        <a:xfrm>
          <a:off x="0" y="0"/>
          <a:ext cx="0" cy="0"/>
          <a:chOff x="0" y="0"/>
          <a:chExt cx="0" cy="0"/>
        </a:xfrm>
      </p:grpSpPr>
      <p:sp>
        <p:nvSpPr>
          <p:cNvPr name="TextBox 2" id="2"/>
          <p:cNvSpPr txBox="true"/>
          <p:nvPr/>
        </p:nvSpPr>
        <p:spPr>
          <a:xfrm rot="0">
            <a:off x="1052312" y="577701"/>
            <a:ext cx="16289188" cy="1092422"/>
          </a:xfrm>
          <a:prstGeom prst="rect">
            <a:avLst/>
          </a:prstGeom>
        </p:spPr>
        <p:txBody>
          <a:bodyPr anchor="t" rtlCol="false" tIns="0" lIns="0" bIns="0" rIns="0">
            <a:spAutoFit/>
          </a:bodyPr>
          <a:lstStyle/>
          <a:p>
            <a:pPr algn="l">
              <a:lnSpc>
                <a:spcPts val="5043"/>
              </a:lnSpc>
            </a:pPr>
            <a:r>
              <a:rPr lang="en-US" sz="4203" b="true">
                <a:solidFill>
                  <a:srgbClr val="000000"/>
                </a:solidFill>
                <a:latin typeface="Calibri (MS) Bold"/>
                <a:ea typeface="Calibri (MS) Bold"/>
                <a:cs typeface="Calibri (MS) Bold"/>
                <a:sym typeface="Calibri (MS) Bold"/>
              </a:rPr>
              <a:t>GENERATIVE AI-POWERED STUDENT ASSISTANT</a:t>
            </a:r>
          </a:p>
        </p:txBody>
      </p:sp>
      <p:grpSp>
        <p:nvGrpSpPr>
          <p:cNvPr name="Group 3" id="3"/>
          <p:cNvGrpSpPr/>
          <p:nvPr/>
        </p:nvGrpSpPr>
        <p:grpSpPr>
          <a:xfrm rot="0">
            <a:off x="960872" y="1784471"/>
            <a:ext cx="2745343" cy="109814"/>
            <a:chOff x="0" y="0"/>
            <a:chExt cx="3660458" cy="146418"/>
          </a:xfrm>
        </p:grpSpPr>
        <p:sp>
          <p:nvSpPr>
            <p:cNvPr name="Freeform 4" id="4"/>
            <p:cNvSpPr/>
            <p:nvPr/>
          </p:nvSpPr>
          <p:spPr>
            <a:xfrm flipH="false" flipV="false" rot="0">
              <a:off x="0" y="0"/>
              <a:ext cx="3660521" cy="146431"/>
            </a:xfrm>
            <a:custGeom>
              <a:avLst/>
              <a:gdLst/>
              <a:ahLst/>
              <a:cxnLst/>
              <a:rect r="r" b="b" t="t" l="l"/>
              <a:pathLst>
                <a:path h="146431" w="3660521">
                  <a:moveTo>
                    <a:pt x="0" y="0"/>
                  </a:moveTo>
                  <a:lnTo>
                    <a:pt x="3660521" y="0"/>
                  </a:lnTo>
                  <a:lnTo>
                    <a:pt x="3660521" y="146431"/>
                  </a:lnTo>
                  <a:lnTo>
                    <a:pt x="0" y="146431"/>
                  </a:lnTo>
                  <a:close/>
                </a:path>
              </a:pathLst>
            </a:custGeom>
            <a:solidFill>
              <a:srgbClr val="3278B4"/>
            </a:solidFill>
          </p:spPr>
        </p:sp>
        <p:sp>
          <p:nvSpPr>
            <p:cNvPr name="TextBox 5" id="5"/>
            <p:cNvSpPr txBox="true"/>
            <p:nvPr/>
          </p:nvSpPr>
          <p:spPr>
            <a:xfrm>
              <a:off x="0" y="-57150"/>
              <a:ext cx="3660458" cy="203568"/>
            </a:xfrm>
            <a:prstGeom prst="rect">
              <a:avLst/>
            </a:prstGeom>
          </p:spPr>
          <p:txBody>
            <a:bodyPr anchor="ctr" rtlCol="false" tIns="50800" lIns="50800" bIns="50800" rIns="50800"/>
            <a:lstStyle/>
            <a:p>
              <a:pPr algn="l">
                <a:lnSpc>
                  <a:spcPts val="3242"/>
                </a:lnSpc>
              </a:pPr>
              <a:r>
                <a:rPr lang="en-US" sz="2702">
                  <a:solidFill>
                    <a:srgbClr val="FFFFFF"/>
                  </a:solidFill>
                  <a:latin typeface="Calibri (MS)"/>
                  <a:ea typeface="Calibri (MS)"/>
                  <a:cs typeface="Calibri (MS)"/>
                  <a:sym typeface="Calibri (MS)"/>
                </a:rPr>
                <a:t>IBM SkillsBuild Internship – Generative AI Project</a:t>
              </a:r>
            </a:p>
            <a:p>
              <a:pPr algn="l">
                <a:lnSpc>
                  <a:spcPts val="3242"/>
                </a:lnSpc>
              </a:pPr>
              <a:r>
                <a:rPr lang="en-US" sz="2702">
                  <a:solidFill>
                    <a:srgbClr val="FFFFFF"/>
                  </a:solidFill>
                  <a:latin typeface="Calibri (MS)"/>
                  <a:ea typeface="Calibri (MS)"/>
                  <a:cs typeface="Calibri (MS)"/>
                  <a:sym typeface="Calibri (MS)"/>
                </a:rPr>
                <a:t>Nan Mudhalvan</a:t>
              </a:r>
            </a:p>
            <a:p>
              <a:pPr algn="l">
                <a:lnSpc>
                  <a:spcPts val="3242"/>
                </a:lnSpc>
              </a:pPr>
            </a:p>
            <a:p>
              <a:pPr algn="l">
                <a:lnSpc>
                  <a:spcPts val="3242"/>
                </a:lnSpc>
              </a:pPr>
              <a:r>
                <a:rPr lang="en-US" sz="2702">
                  <a:solidFill>
                    <a:srgbClr val="FFFFFF"/>
                  </a:solidFill>
                  <a:latin typeface="Calibri (MS)"/>
                  <a:ea typeface="Calibri (MS)"/>
                  <a:cs typeface="Calibri (MS)"/>
                  <a:sym typeface="Calibri (MS)"/>
                </a:rPr>
                <a:t>Project Title: Generative AI-Powered Student Assistant</a:t>
              </a:r>
            </a:p>
            <a:p>
              <a:pPr algn="l">
                <a:lnSpc>
                  <a:spcPts val="3242"/>
                </a:lnSpc>
              </a:pPr>
              <a:r>
                <a:rPr lang="en-US" sz="2702">
                  <a:solidFill>
                    <a:srgbClr val="FFFFFF"/>
                  </a:solidFill>
                  <a:latin typeface="Calibri (MS)"/>
                  <a:ea typeface="Calibri (MS)"/>
                  <a:cs typeface="Calibri (MS)"/>
                  <a:sym typeface="Calibri (MS)"/>
                </a:rPr>
                <a:t>Domain: Generative Artificial Intelligence</a:t>
              </a:r>
            </a:p>
            <a:p>
              <a:pPr algn="l">
                <a:lnSpc>
                  <a:spcPts val="3242"/>
                </a:lnSpc>
              </a:pPr>
            </a:p>
            <a:p>
              <a:pPr algn="l">
                <a:lnSpc>
                  <a:spcPts val="3242"/>
                </a:lnSpc>
              </a:pPr>
              <a:r>
                <a:rPr lang="en-US" sz="2702">
                  <a:solidFill>
                    <a:srgbClr val="FFFFFF"/>
                  </a:solidFill>
                  <a:latin typeface="Calibri (MS)"/>
                  <a:ea typeface="Calibri (MS)"/>
                  <a:cs typeface="Calibri (MS)"/>
                  <a:sym typeface="Calibri (MS)"/>
                </a:rPr>
                <a:t>Submitted by: ____________________</a:t>
              </a:r>
            </a:p>
            <a:p>
              <a:pPr algn="l">
                <a:lnSpc>
                  <a:spcPts val="3242"/>
                </a:lnSpc>
              </a:pPr>
              <a:r>
                <a:rPr lang="en-US" sz="2702">
                  <a:solidFill>
                    <a:srgbClr val="FFFFFF"/>
                  </a:solidFill>
                  <a:latin typeface="Calibri (MS)"/>
                  <a:ea typeface="Calibri (MS)"/>
                  <a:cs typeface="Calibri (MS)"/>
                  <a:sym typeface="Calibri (MS)"/>
                </a:rPr>
                <a:t>College: ____________________</a:t>
              </a:r>
            </a:p>
            <a:p>
              <a:pPr algn="l">
                <a:lnSpc>
                  <a:spcPts val="3242"/>
                </a:lnSpc>
              </a:pPr>
              <a:r>
                <a:rPr lang="en-US" sz="2702">
                  <a:solidFill>
                    <a:srgbClr val="FFFFFF"/>
                  </a:solidFill>
                  <a:latin typeface="Calibri (MS)"/>
                  <a:ea typeface="Calibri (MS)"/>
                  <a:cs typeface="Calibri (MS)"/>
                  <a:sym typeface="Calibri (MS)"/>
                </a:rPr>
                <a:t>Department: ____________________</a:t>
              </a:r>
            </a:p>
          </p:txBody>
        </p:sp>
      </p:grpSp>
      <p:sp>
        <p:nvSpPr>
          <p:cNvPr name="TextBox 6" id="6"/>
          <p:cNvSpPr txBox="true"/>
          <p:nvPr/>
        </p:nvSpPr>
        <p:spPr>
          <a:xfrm rot="0">
            <a:off x="1326842" y="2184844"/>
            <a:ext cx="15877384" cy="3743010"/>
          </a:xfrm>
          <a:prstGeom prst="rect">
            <a:avLst/>
          </a:prstGeom>
        </p:spPr>
        <p:txBody>
          <a:bodyPr anchor="t" rtlCol="false" tIns="0" lIns="0" bIns="0" rIns="0">
            <a:spAutoFit/>
          </a:bodyPr>
          <a:lstStyle/>
          <a:p>
            <a:pPr algn="l">
              <a:lnSpc>
                <a:spcPts val="3242"/>
              </a:lnSpc>
            </a:pPr>
            <a:r>
              <a:rPr lang="en-US" sz="2702">
                <a:solidFill>
                  <a:srgbClr val="282828"/>
                </a:solidFill>
                <a:latin typeface="Calibri (MS)"/>
                <a:ea typeface="Calibri (MS)"/>
                <a:cs typeface="Calibri (MS)"/>
                <a:sym typeface="Calibri (MS)"/>
              </a:rPr>
              <a:t>IBM SkillsBuild Internship – Agentic AI Project</a:t>
            </a:r>
          </a:p>
          <a:p>
            <a:pPr algn="l">
              <a:lnSpc>
                <a:spcPts val="3242"/>
              </a:lnSpc>
            </a:pPr>
            <a:r>
              <a:rPr lang="en-US" sz="2702">
                <a:solidFill>
                  <a:srgbClr val="282828"/>
                </a:solidFill>
                <a:latin typeface="Calibri (MS)"/>
                <a:ea typeface="Calibri (MS)"/>
                <a:cs typeface="Calibri (MS)"/>
                <a:sym typeface="Calibri (MS)"/>
              </a:rPr>
              <a:t>Nan Mudhalvan</a:t>
            </a:r>
          </a:p>
          <a:p>
            <a:pPr algn="l">
              <a:lnSpc>
                <a:spcPts val="3242"/>
              </a:lnSpc>
            </a:pPr>
          </a:p>
          <a:p>
            <a:pPr algn="l">
              <a:lnSpc>
                <a:spcPts val="3242"/>
              </a:lnSpc>
            </a:pPr>
            <a:r>
              <a:rPr lang="en-US" sz="2702">
                <a:solidFill>
                  <a:srgbClr val="282828"/>
                </a:solidFill>
                <a:latin typeface="Calibri (MS)"/>
                <a:ea typeface="Calibri (MS)"/>
                <a:cs typeface="Calibri (MS)"/>
                <a:sym typeface="Calibri (MS)"/>
              </a:rPr>
              <a:t>Project Title: AI-Powered Student Internship Assistant</a:t>
            </a:r>
          </a:p>
          <a:p>
            <a:pPr algn="l">
              <a:lnSpc>
                <a:spcPts val="3242"/>
              </a:lnSpc>
            </a:pPr>
            <a:r>
              <a:rPr lang="en-US" sz="2702">
                <a:solidFill>
                  <a:srgbClr val="282828"/>
                </a:solidFill>
                <a:latin typeface="Calibri (MS)"/>
                <a:ea typeface="Calibri (MS)"/>
                <a:cs typeface="Calibri (MS)"/>
                <a:sym typeface="Calibri (MS)"/>
              </a:rPr>
              <a:t>Domain: Agentic Artificial Intelligence</a:t>
            </a:r>
          </a:p>
          <a:p>
            <a:pPr algn="l">
              <a:lnSpc>
                <a:spcPts val="3242"/>
              </a:lnSpc>
            </a:pPr>
          </a:p>
          <a:p>
            <a:pPr algn="l">
              <a:lnSpc>
                <a:spcPts val="3242"/>
              </a:lnSpc>
            </a:pPr>
            <a:r>
              <a:rPr lang="en-US" sz="2702">
                <a:solidFill>
                  <a:srgbClr val="282828"/>
                </a:solidFill>
                <a:latin typeface="Calibri (MS)"/>
                <a:ea typeface="Calibri (MS)"/>
                <a:cs typeface="Calibri (MS)"/>
                <a:sym typeface="Calibri (MS)"/>
              </a:rPr>
              <a:t>Submitted by: JEYANTHI U</a:t>
            </a:r>
          </a:p>
          <a:p>
            <a:pPr algn="l">
              <a:lnSpc>
                <a:spcPts val="3242"/>
              </a:lnSpc>
            </a:pPr>
            <a:r>
              <a:rPr lang="en-US" sz="2702">
                <a:solidFill>
                  <a:srgbClr val="282828"/>
                </a:solidFill>
                <a:latin typeface="Calibri (MS)"/>
                <a:ea typeface="Calibri (MS)"/>
                <a:cs typeface="Calibri (MS)"/>
                <a:sym typeface="Calibri (MS)"/>
              </a:rPr>
              <a:t>College:LATHA MATHAVAN ENGINEERING COLLEGE </a:t>
            </a:r>
          </a:p>
          <a:p>
            <a:pPr algn="l">
              <a:lnSpc>
                <a:spcPts val="3242"/>
              </a:lnSpc>
            </a:pPr>
            <a:r>
              <a:rPr lang="en-US" sz="2702">
                <a:solidFill>
                  <a:srgbClr val="282828"/>
                </a:solidFill>
                <a:latin typeface="Calibri (MS)"/>
                <a:ea typeface="Calibri (MS)"/>
                <a:cs typeface="Calibri (MS)"/>
                <a:sym typeface="Calibri (MS)"/>
              </a:rPr>
              <a:t>Department: COMPUTER SCIENCE AND ENGINEERING </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5F7FA"/>
        </a:solidFill>
      </p:bgPr>
    </p:bg>
    <p:spTree>
      <p:nvGrpSpPr>
        <p:cNvPr id="1" name=""/>
        <p:cNvGrpSpPr/>
        <p:nvPr/>
      </p:nvGrpSpPr>
      <p:grpSpPr>
        <a:xfrm>
          <a:off x="0" y="0"/>
          <a:ext cx="0" cy="0"/>
          <a:chOff x="0" y="0"/>
          <a:chExt cx="0" cy="0"/>
        </a:xfrm>
      </p:grpSpPr>
      <p:sp>
        <p:nvSpPr>
          <p:cNvPr name="TextBox 2" id="2"/>
          <p:cNvSpPr txBox="true"/>
          <p:nvPr/>
        </p:nvSpPr>
        <p:spPr>
          <a:xfrm rot="0">
            <a:off x="1052312" y="577701"/>
            <a:ext cx="16289188" cy="1092422"/>
          </a:xfrm>
          <a:prstGeom prst="rect">
            <a:avLst/>
          </a:prstGeom>
        </p:spPr>
        <p:txBody>
          <a:bodyPr anchor="t" rtlCol="false" tIns="0" lIns="0" bIns="0" rIns="0">
            <a:spAutoFit/>
          </a:bodyPr>
          <a:lstStyle/>
          <a:p>
            <a:pPr algn="l">
              <a:lnSpc>
                <a:spcPts val="5043"/>
              </a:lnSpc>
            </a:pPr>
            <a:r>
              <a:rPr lang="en-US" sz="4203" b="true">
                <a:solidFill>
                  <a:srgbClr val="000000"/>
                </a:solidFill>
                <a:latin typeface="Calibri (MS) Bold"/>
                <a:ea typeface="Calibri (MS) Bold"/>
                <a:cs typeface="Calibri (MS) Bold"/>
                <a:sym typeface="Calibri (MS) Bold"/>
              </a:rPr>
              <a:t>PROJECT OVERVIEW</a:t>
            </a:r>
          </a:p>
        </p:txBody>
      </p:sp>
      <p:grpSp>
        <p:nvGrpSpPr>
          <p:cNvPr name="Group 3" id="3"/>
          <p:cNvGrpSpPr/>
          <p:nvPr/>
        </p:nvGrpSpPr>
        <p:grpSpPr>
          <a:xfrm rot="0">
            <a:off x="960872" y="1784471"/>
            <a:ext cx="2745343" cy="109814"/>
            <a:chOff x="0" y="0"/>
            <a:chExt cx="3660458" cy="146418"/>
          </a:xfrm>
        </p:grpSpPr>
        <p:sp>
          <p:nvSpPr>
            <p:cNvPr name="Freeform 4" id="4"/>
            <p:cNvSpPr/>
            <p:nvPr/>
          </p:nvSpPr>
          <p:spPr>
            <a:xfrm flipH="false" flipV="false" rot="0">
              <a:off x="0" y="0"/>
              <a:ext cx="3660521" cy="146431"/>
            </a:xfrm>
            <a:custGeom>
              <a:avLst/>
              <a:gdLst/>
              <a:ahLst/>
              <a:cxnLst/>
              <a:rect r="r" b="b" t="t" l="l"/>
              <a:pathLst>
                <a:path h="146431" w="3660521">
                  <a:moveTo>
                    <a:pt x="0" y="0"/>
                  </a:moveTo>
                  <a:lnTo>
                    <a:pt x="3660521" y="0"/>
                  </a:lnTo>
                  <a:lnTo>
                    <a:pt x="3660521" y="146431"/>
                  </a:lnTo>
                  <a:lnTo>
                    <a:pt x="0" y="146431"/>
                  </a:lnTo>
                  <a:close/>
                </a:path>
              </a:pathLst>
            </a:custGeom>
            <a:solidFill>
              <a:srgbClr val="3278B4"/>
            </a:solidFill>
          </p:spPr>
        </p:sp>
        <p:sp>
          <p:nvSpPr>
            <p:cNvPr name="TextBox 5" id="5"/>
            <p:cNvSpPr txBox="true"/>
            <p:nvPr/>
          </p:nvSpPr>
          <p:spPr>
            <a:xfrm>
              <a:off x="0" y="-57150"/>
              <a:ext cx="3660458" cy="203568"/>
            </a:xfrm>
            <a:prstGeom prst="rect">
              <a:avLst/>
            </a:prstGeom>
          </p:spPr>
          <p:txBody>
            <a:bodyPr anchor="ctr" rtlCol="false" tIns="50800" lIns="50800" bIns="50800" rIns="50800"/>
            <a:lstStyle/>
            <a:p>
              <a:pPr algn="l">
                <a:lnSpc>
                  <a:spcPts val="3242"/>
                </a:lnSpc>
              </a:pPr>
              <a:r>
                <a:rPr lang="en-US" sz="2702">
                  <a:solidFill>
                    <a:srgbClr val="FFFFFF"/>
                  </a:solidFill>
                  <a:latin typeface="Calibri (MS)"/>
                  <a:ea typeface="Calibri (MS)"/>
                  <a:cs typeface="Calibri (MS)"/>
                  <a:sym typeface="Calibri (MS)"/>
                </a:rPr>
                <a:t>Project Title</a:t>
              </a:r>
            </a:p>
            <a:p>
              <a:pPr algn="l">
                <a:lnSpc>
                  <a:spcPts val="3242"/>
                </a:lnSpc>
              </a:pPr>
              <a:r>
                <a:rPr lang="en-US" sz="2702">
                  <a:solidFill>
                    <a:srgbClr val="FFFFFF"/>
                  </a:solidFill>
                  <a:latin typeface="Calibri (MS)"/>
                  <a:ea typeface="Calibri (MS)"/>
                  <a:cs typeface="Calibri (MS)"/>
                  <a:sym typeface="Calibri (MS)"/>
                </a:rPr>
                <a:t>Generative AI-Powered Student Assistant</a:t>
              </a:r>
            </a:p>
            <a:p>
              <a:pPr algn="l">
                <a:lnSpc>
                  <a:spcPts val="3242"/>
                </a:lnSpc>
              </a:pPr>
            </a:p>
            <a:p>
              <a:pPr algn="l">
                <a:lnSpc>
                  <a:spcPts val="3242"/>
                </a:lnSpc>
              </a:pPr>
              <a:r>
                <a:rPr lang="en-US" sz="2702">
                  <a:solidFill>
                    <a:srgbClr val="FFFFFF"/>
                  </a:solidFill>
                  <a:latin typeface="Calibri (MS)"/>
                  <a:ea typeface="Calibri (MS)"/>
                  <a:cs typeface="Calibri (MS)"/>
                  <a:sym typeface="Calibri (MS)"/>
                </a:rPr>
                <a:t>Brief Description</a:t>
              </a:r>
            </a:p>
            <a:p>
              <a:pPr algn="l">
                <a:lnSpc>
                  <a:spcPts val="3242"/>
                </a:lnSpc>
              </a:pPr>
              <a:r>
                <a:rPr lang="en-US" sz="2702">
                  <a:solidFill>
                    <a:srgbClr val="FFFFFF"/>
                  </a:solidFill>
                  <a:latin typeface="Calibri (MS)"/>
                  <a:ea typeface="Calibri (MS)"/>
                  <a:cs typeface="Calibri (MS)"/>
                  <a:sym typeface="Calibri (MS)"/>
                </a:rPr>
                <a:t>The project is a Generative AI-based intelligent assistant designed to help students generate useful content and receive personalized academic and career support. The system can understand natural language requests and generate answers, study materials, summaries, ideas, project content, and guidance.</a:t>
              </a:r>
            </a:p>
            <a:p>
              <a:pPr algn="l">
                <a:lnSpc>
                  <a:spcPts val="3242"/>
                </a:lnSpc>
              </a:pPr>
            </a:p>
            <a:p>
              <a:pPr algn="l">
                <a:lnSpc>
                  <a:spcPts val="3242"/>
                </a:lnSpc>
              </a:pPr>
              <a:r>
                <a:rPr lang="en-US" sz="2702">
                  <a:solidFill>
                    <a:srgbClr val="FFFFFF"/>
                  </a:solidFill>
                  <a:latin typeface="Calibri (MS)"/>
                  <a:ea typeface="Calibri (MS)"/>
                  <a:cs typeface="Calibri (MS)"/>
                  <a:sym typeface="Calibri (MS)"/>
                </a:rPr>
                <a:t>Generative AI enables the system to create new and meaningful content based on the user's input.</a:t>
              </a:r>
            </a:p>
          </p:txBody>
        </p:sp>
      </p:grpSp>
      <p:sp>
        <p:nvSpPr>
          <p:cNvPr name="TextBox 6" id="6"/>
          <p:cNvSpPr txBox="true"/>
          <p:nvPr/>
        </p:nvSpPr>
        <p:spPr>
          <a:xfrm rot="0">
            <a:off x="1326842" y="2184844"/>
            <a:ext cx="15877384" cy="7240876"/>
          </a:xfrm>
          <a:prstGeom prst="rect">
            <a:avLst/>
          </a:prstGeom>
        </p:spPr>
        <p:txBody>
          <a:bodyPr anchor="t" rtlCol="false" tIns="0" lIns="0" bIns="0" rIns="0">
            <a:spAutoFit/>
          </a:bodyPr>
          <a:lstStyle/>
          <a:p>
            <a:pPr algn="l">
              <a:lnSpc>
                <a:spcPts val="3242"/>
              </a:lnSpc>
            </a:pPr>
            <a:r>
              <a:rPr lang="en-US" sz="2702">
                <a:solidFill>
                  <a:srgbClr val="282828"/>
                </a:solidFill>
                <a:latin typeface="Calibri (MS)"/>
                <a:ea typeface="Calibri (MS)"/>
                <a:cs typeface="Calibri (MS)"/>
                <a:sym typeface="Calibri (MS)"/>
              </a:rPr>
              <a:t>Project Title</a:t>
            </a:r>
          </a:p>
          <a:p>
            <a:pPr algn="l">
              <a:lnSpc>
                <a:spcPts val="3242"/>
              </a:lnSpc>
            </a:pPr>
            <a:r>
              <a:rPr lang="en-US" sz="2702">
                <a:solidFill>
                  <a:srgbClr val="282828"/>
                </a:solidFill>
                <a:latin typeface="Calibri (MS)"/>
                <a:ea typeface="Calibri (MS)"/>
                <a:cs typeface="Calibri (MS)"/>
                <a:sym typeface="Calibri (MS)"/>
              </a:rPr>
              <a:t>AI-Powered Student Internship Assistant</a:t>
            </a:r>
          </a:p>
          <a:p>
            <a:pPr algn="l">
              <a:lnSpc>
                <a:spcPts val="3242"/>
              </a:lnSpc>
            </a:pPr>
          </a:p>
          <a:p>
            <a:pPr algn="l">
              <a:lnSpc>
                <a:spcPts val="3242"/>
              </a:lnSpc>
            </a:pPr>
            <a:r>
              <a:rPr lang="en-US" sz="2702">
                <a:solidFill>
                  <a:srgbClr val="282828"/>
                </a:solidFill>
                <a:latin typeface="Calibri (MS)"/>
                <a:ea typeface="Calibri (MS)"/>
                <a:cs typeface="Calibri (MS)"/>
                <a:sym typeface="Calibri (MS)"/>
              </a:rPr>
              <a:t>Brief Description</a:t>
            </a:r>
          </a:p>
          <a:p>
            <a:pPr algn="l">
              <a:lnSpc>
                <a:spcPts val="3242"/>
              </a:lnSpc>
            </a:pPr>
            <a:r>
              <a:rPr lang="en-US" sz="2702">
                <a:solidFill>
                  <a:srgbClr val="282828"/>
                </a:solidFill>
                <a:latin typeface="Calibri (MS)"/>
                <a:ea typeface="Calibri (MS)"/>
                <a:cs typeface="Calibri (MS)"/>
                <a:sym typeface="Calibri (MS)"/>
              </a:rPr>
              <a:t>The project is an Agentic AI-based assistant designed to help students manage internship-related activities. It can understand student requests, analyze available information, plan suitable actions, and provide personalized guidance for internships, skills, resumes, and learning paths.</a:t>
            </a:r>
          </a:p>
          <a:p>
            <a:pPr algn="l">
              <a:lnSpc>
                <a:spcPts val="3242"/>
              </a:lnSpc>
            </a:pPr>
          </a:p>
          <a:p>
            <a:pPr algn="l">
              <a:lnSpc>
                <a:spcPts val="3242"/>
              </a:lnSpc>
            </a:pPr>
            <a:r>
              <a:rPr lang="en-US" sz="2702">
                <a:solidFill>
                  <a:srgbClr val="282828"/>
                </a:solidFill>
                <a:latin typeface="Calibri (MS)"/>
                <a:ea typeface="Calibri (MS)"/>
                <a:cs typeface="Calibri (MS)"/>
                <a:sym typeface="Calibri (MS)"/>
              </a:rPr>
              <a:t>The system acts as an intelligent assistant rather than a simple chatbot by following a goal-oriented workflow.</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5F7FA"/>
        </a:solidFill>
      </p:bgPr>
    </p:bg>
    <p:spTree>
      <p:nvGrpSpPr>
        <p:cNvPr id="1" name=""/>
        <p:cNvGrpSpPr/>
        <p:nvPr/>
      </p:nvGrpSpPr>
      <p:grpSpPr>
        <a:xfrm>
          <a:off x="0" y="0"/>
          <a:ext cx="0" cy="0"/>
          <a:chOff x="0" y="0"/>
          <a:chExt cx="0" cy="0"/>
        </a:xfrm>
      </p:grpSpPr>
      <p:sp>
        <p:nvSpPr>
          <p:cNvPr name="TextBox 2" id="2"/>
          <p:cNvSpPr txBox="true"/>
          <p:nvPr/>
        </p:nvSpPr>
        <p:spPr>
          <a:xfrm rot="0">
            <a:off x="1052312" y="577701"/>
            <a:ext cx="16289188" cy="1092422"/>
          </a:xfrm>
          <a:prstGeom prst="rect">
            <a:avLst/>
          </a:prstGeom>
        </p:spPr>
        <p:txBody>
          <a:bodyPr anchor="t" rtlCol="false" tIns="0" lIns="0" bIns="0" rIns="0">
            <a:spAutoFit/>
          </a:bodyPr>
          <a:lstStyle/>
          <a:p>
            <a:pPr algn="l">
              <a:lnSpc>
                <a:spcPts val="5043"/>
              </a:lnSpc>
            </a:pPr>
            <a:r>
              <a:rPr lang="en-US" sz="4203" b="true">
                <a:solidFill>
                  <a:srgbClr val="000000"/>
                </a:solidFill>
                <a:latin typeface="Calibri (MS) Bold"/>
                <a:ea typeface="Calibri (MS) Bold"/>
                <a:cs typeface="Calibri (MS) Bold"/>
                <a:sym typeface="Calibri (MS) Bold"/>
              </a:rPr>
              <a:t>PROBLEM STATEMENT</a:t>
            </a:r>
          </a:p>
        </p:txBody>
      </p:sp>
      <p:grpSp>
        <p:nvGrpSpPr>
          <p:cNvPr name="Group 3" id="3"/>
          <p:cNvGrpSpPr/>
          <p:nvPr/>
        </p:nvGrpSpPr>
        <p:grpSpPr>
          <a:xfrm rot="0">
            <a:off x="960872" y="1784471"/>
            <a:ext cx="2745343" cy="109814"/>
            <a:chOff x="0" y="0"/>
            <a:chExt cx="3660458" cy="146418"/>
          </a:xfrm>
        </p:grpSpPr>
        <p:sp>
          <p:nvSpPr>
            <p:cNvPr name="Freeform 4" id="4"/>
            <p:cNvSpPr/>
            <p:nvPr/>
          </p:nvSpPr>
          <p:spPr>
            <a:xfrm flipH="false" flipV="false" rot="0">
              <a:off x="0" y="0"/>
              <a:ext cx="3660521" cy="146431"/>
            </a:xfrm>
            <a:custGeom>
              <a:avLst/>
              <a:gdLst/>
              <a:ahLst/>
              <a:cxnLst/>
              <a:rect r="r" b="b" t="t" l="l"/>
              <a:pathLst>
                <a:path h="146431" w="3660521">
                  <a:moveTo>
                    <a:pt x="0" y="0"/>
                  </a:moveTo>
                  <a:lnTo>
                    <a:pt x="3660521" y="0"/>
                  </a:lnTo>
                  <a:lnTo>
                    <a:pt x="3660521" y="146431"/>
                  </a:lnTo>
                  <a:lnTo>
                    <a:pt x="0" y="146431"/>
                  </a:lnTo>
                  <a:close/>
                </a:path>
              </a:pathLst>
            </a:custGeom>
            <a:solidFill>
              <a:srgbClr val="3278B4"/>
            </a:solidFill>
          </p:spPr>
        </p:sp>
        <p:sp>
          <p:nvSpPr>
            <p:cNvPr name="TextBox 5" id="5"/>
            <p:cNvSpPr txBox="true"/>
            <p:nvPr/>
          </p:nvSpPr>
          <p:spPr>
            <a:xfrm>
              <a:off x="0" y="-57150"/>
              <a:ext cx="3660458" cy="203568"/>
            </a:xfrm>
            <a:prstGeom prst="rect">
              <a:avLst/>
            </a:prstGeom>
          </p:spPr>
          <p:txBody>
            <a:bodyPr anchor="ctr" rtlCol="false" tIns="50800" lIns="50800" bIns="50800" rIns="50800"/>
            <a:lstStyle/>
            <a:p>
              <a:pPr algn="l">
                <a:lnSpc>
                  <a:spcPts val="3242"/>
                </a:lnSpc>
              </a:pPr>
              <a:r>
                <a:rPr lang="en-US" sz="2702">
                  <a:solidFill>
                    <a:srgbClr val="FFFFFF"/>
                  </a:solidFill>
                  <a:latin typeface="Calibri (MS)"/>
                  <a:ea typeface="Calibri (MS)"/>
                  <a:cs typeface="Calibri (MS)"/>
                  <a:sym typeface="Calibri (MS)"/>
                </a:rPr>
                <a:t>Students often spend significant time searching for information, preparing notes, writing content, and organizing academic or career-related tasks.</a:t>
              </a:r>
            </a:p>
            <a:p>
              <a:pPr algn="l">
                <a:lnSpc>
                  <a:spcPts val="3242"/>
                </a:lnSpc>
              </a:pPr>
            </a:p>
            <a:p>
              <a:pPr algn="l">
                <a:lnSpc>
                  <a:spcPts val="3242"/>
                </a:lnSpc>
              </a:pPr>
              <a:r>
                <a:rPr lang="en-US" sz="2702">
                  <a:solidFill>
                    <a:srgbClr val="FFFFFF"/>
                  </a:solidFill>
                  <a:latin typeface="Calibri (MS)"/>
                  <a:ea typeface="Calibri (MS)"/>
                  <a:cs typeface="Calibri (MS)"/>
                  <a:sym typeface="Calibri (MS)"/>
                </a:rPr>
                <a:t>Common difficulties include:</a:t>
              </a:r>
            </a:p>
            <a:p>
              <a:pPr algn="l">
                <a:lnSpc>
                  <a:spcPts val="3242"/>
                </a:lnSpc>
              </a:pPr>
              <a:r>
                <a:rPr lang="en-US" sz="2702">
                  <a:solidFill>
                    <a:srgbClr val="FFFFFF"/>
                  </a:solidFill>
                  <a:latin typeface="Calibri (MS)"/>
                  <a:ea typeface="Calibri (MS)"/>
                  <a:cs typeface="Calibri (MS)"/>
                  <a:sym typeface="Calibri (MS)"/>
                </a:rPr>
                <a:t>• Preparing study materials and summaries.</a:t>
              </a:r>
            </a:p>
            <a:p>
              <a:pPr algn="l">
                <a:lnSpc>
                  <a:spcPts val="3242"/>
                </a:lnSpc>
              </a:pPr>
              <a:r>
                <a:rPr lang="en-US" sz="2702">
                  <a:solidFill>
                    <a:srgbClr val="FFFFFF"/>
                  </a:solidFill>
                  <a:latin typeface="Calibri (MS)"/>
                  <a:ea typeface="Calibri (MS)"/>
                  <a:cs typeface="Calibri (MS)"/>
                  <a:sym typeface="Calibri (MS)"/>
                </a:rPr>
                <a:t>• Generating ideas for projects and assignments.</a:t>
              </a:r>
            </a:p>
            <a:p>
              <a:pPr algn="l">
                <a:lnSpc>
                  <a:spcPts val="3242"/>
                </a:lnSpc>
              </a:pPr>
              <a:r>
                <a:rPr lang="en-US" sz="2702">
                  <a:solidFill>
                    <a:srgbClr val="FFFFFF"/>
                  </a:solidFill>
                  <a:latin typeface="Calibri (MS)"/>
                  <a:ea typeface="Calibri (MS)"/>
                  <a:cs typeface="Calibri (MS)"/>
                  <a:sym typeface="Calibri (MS)"/>
                </a:rPr>
                <a:t>• Understanding complex topics.</a:t>
              </a:r>
            </a:p>
            <a:p>
              <a:pPr algn="l">
                <a:lnSpc>
                  <a:spcPts val="3242"/>
                </a:lnSpc>
              </a:pPr>
              <a:r>
                <a:rPr lang="en-US" sz="2702">
                  <a:solidFill>
                    <a:srgbClr val="FFFFFF"/>
                  </a:solidFill>
                  <a:latin typeface="Calibri (MS)"/>
                  <a:ea typeface="Calibri (MS)"/>
                  <a:cs typeface="Calibri (MS)"/>
                  <a:sym typeface="Calibri (MS)"/>
                </a:rPr>
                <a:t>• Creating resumes and professional content.</a:t>
              </a:r>
            </a:p>
            <a:p>
              <a:pPr algn="l">
                <a:lnSpc>
                  <a:spcPts val="3242"/>
                </a:lnSpc>
              </a:pPr>
              <a:r>
                <a:rPr lang="en-US" sz="2702">
                  <a:solidFill>
                    <a:srgbClr val="FFFFFF"/>
                  </a:solidFill>
                  <a:latin typeface="Calibri (MS)"/>
                  <a:ea typeface="Calibri (MS)"/>
                  <a:cs typeface="Calibri (MS)"/>
                  <a:sym typeface="Calibri (MS)"/>
                </a:rPr>
                <a:t>• Finding personalized guidance quickly.</a:t>
              </a:r>
            </a:p>
            <a:p>
              <a:pPr algn="l">
                <a:lnSpc>
                  <a:spcPts val="3242"/>
                </a:lnSpc>
              </a:pPr>
            </a:p>
            <a:p>
              <a:pPr algn="l">
                <a:lnSpc>
                  <a:spcPts val="3242"/>
                </a:lnSpc>
              </a:pPr>
              <a:r>
                <a:rPr lang="en-US" sz="2702">
                  <a:solidFill>
                    <a:srgbClr val="FFFFFF"/>
                  </a:solidFill>
                  <a:latin typeface="Calibri (MS)"/>
                  <a:ea typeface="Calibri (MS)"/>
                  <a:cs typeface="Calibri (MS)"/>
                  <a:sym typeface="Calibri (MS)"/>
                </a:rPr>
                <a:t>Therefore, a Generative AI-based system is proposed to provide intelligent, fast, and personalized content generation.</a:t>
              </a:r>
            </a:p>
          </p:txBody>
        </p:sp>
      </p:grpSp>
      <p:sp>
        <p:nvSpPr>
          <p:cNvPr name="TextBox 6" id="6"/>
          <p:cNvSpPr txBox="true"/>
          <p:nvPr/>
        </p:nvSpPr>
        <p:spPr>
          <a:xfrm rot="0">
            <a:off x="1326842" y="2184844"/>
            <a:ext cx="15877384" cy="7240876"/>
          </a:xfrm>
          <a:prstGeom prst="rect">
            <a:avLst/>
          </a:prstGeom>
        </p:spPr>
        <p:txBody>
          <a:bodyPr anchor="t" rtlCol="false" tIns="0" lIns="0" bIns="0" rIns="0">
            <a:spAutoFit/>
          </a:bodyPr>
          <a:lstStyle/>
          <a:p>
            <a:pPr algn="l">
              <a:lnSpc>
                <a:spcPts val="3242"/>
              </a:lnSpc>
            </a:pPr>
            <a:r>
              <a:rPr lang="en-US" sz="2702">
                <a:solidFill>
                  <a:srgbClr val="282828"/>
                </a:solidFill>
                <a:latin typeface="Calibri (MS)"/>
                <a:ea typeface="Calibri (MS)"/>
                <a:cs typeface="Calibri (MS)"/>
                <a:sym typeface="Calibri (MS)"/>
              </a:rPr>
              <a:t>Students often face difficulties in:</a:t>
            </a:r>
          </a:p>
          <a:p>
            <a:pPr algn="l">
              <a:lnSpc>
                <a:spcPts val="3242"/>
              </a:lnSpc>
            </a:pPr>
            <a:r>
              <a:rPr lang="en-US" sz="2702">
                <a:solidFill>
                  <a:srgbClr val="282828"/>
                </a:solidFill>
                <a:latin typeface="Calibri (MS)"/>
                <a:ea typeface="Calibri (MS)"/>
                <a:cs typeface="Calibri (MS)"/>
                <a:sym typeface="Calibri (MS)"/>
              </a:rPr>
              <a:t>• Finding suitable internship opportunities.</a:t>
            </a:r>
          </a:p>
          <a:p>
            <a:pPr algn="l">
              <a:lnSpc>
                <a:spcPts val="3242"/>
              </a:lnSpc>
            </a:pPr>
            <a:r>
              <a:rPr lang="en-US" sz="2702">
                <a:solidFill>
                  <a:srgbClr val="282828"/>
                </a:solidFill>
                <a:latin typeface="Calibri (MS)"/>
                <a:ea typeface="Calibri (MS)"/>
                <a:cs typeface="Calibri (MS)"/>
                <a:sym typeface="Calibri (MS)"/>
              </a:rPr>
              <a:t>• Identifying the skills required for a particular role.</a:t>
            </a:r>
          </a:p>
          <a:p>
            <a:pPr algn="l">
              <a:lnSpc>
                <a:spcPts val="3242"/>
              </a:lnSpc>
            </a:pPr>
            <a:r>
              <a:rPr lang="en-US" sz="2702">
                <a:solidFill>
                  <a:srgbClr val="282828"/>
                </a:solidFill>
                <a:latin typeface="Calibri (MS)"/>
                <a:ea typeface="Calibri (MS)"/>
                <a:cs typeface="Calibri (MS)"/>
                <a:sym typeface="Calibri (MS)"/>
              </a:rPr>
              <a:t>• Preparing resumes and project descriptions.</a:t>
            </a:r>
          </a:p>
          <a:p>
            <a:pPr algn="l">
              <a:lnSpc>
                <a:spcPts val="3242"/>
              </a:lnSpc>
            </a:pPr>
            <a:r>
              <a:rPr lang="en-US" sz="2702">
                <a:solidFill>
                  <a:srgbClr val="282828"/>
                </a:solidFill>
                <a:latin typeface="Calibri (MS)"/>
                <a:ea typeface="Calibri (MS)"/>
                <a:cs typeface="Calibri (MS)"/>
                <a:sym typeface="Calibri (MS)"/>
              </a:rPr>
              <a:t>• Planning what to learn before applying.</a:t>
            </a:r>
          </a:p>
          <a:p>
            <a:pPr algn="l">
              <a:lnSpc>
                <a:spcPts val="3242"/>
              </a:lnSpc>
            </a:pPr>
            <a:r>
              <a:rPr lang="en-US" sz="2702">
                <a:solidFill>
                  <a:srgbClr val="282828"/>
                </a:solidFill>
                <a:latin typeface="Calibri (MS)"/>
                <a:ea typeface="Calibri (MS)"/>
                <a:cs typeface="Calibri (MS)"/>
                <a:sym typeface="Calibri (MS)"/>
              </a:rPr>
              <a:t>• Managing multiple internship-related tasks.</a:t>
            </a:r>
          </a:p>
          <a:p>
            <a:pPr algn="l">
              <a:lnSpc>
                <a:spcPts val="3242"/>
              </a:lnSpc>
            </a:pPr>
          </a:p>
          <a:p>
            <a:pPr algn="l">
              <a:lnSpc>
                <a:spcPts val="3242"/>
              </a:lnSpc>
            </a:pPr>
            <a:r>
              <a:rPr lang="en-US" sz="2702">
                <a:solidFill>
                  <a:srgbClr val="282828"/>
                </a:solidFill>
                <a:latin typeface="Calibri (MS)"/>
                <a:ea typeface="Calibri (MS)"/>
                <a:cs typeface="Calibri (MS)"/>
                <a:sym typeface="Calibri (MS)"/>
              </a:rPr>
              <a:t>Existing systems usually provide general information. Students need an intelligent system that can understand their goal and provide personalized, step-by-step assistance.</a:t>
            </a:r>
          </a:p>
          <a:p>
            <a:pPr algn="l">
              <a:lnSpc>
                <a:spcPts val="3242"/>
              </a:lnSpc>
            </a:pPr>
          </a:p>
          <a:p>
            <a:pPr algn="l">
              <a:lnSpc>
                <a:spcPts val="3242"/>
              </a:lnSpc>
            </a:pPr>
            <a:r>
              <a:rPr lang="en-US" sz="2702">
                <a:solidFill>
                  <a:srgbClr val="282828"/>
                </a:solidFill>
                <a:latin typeface="Calibri (MS)"/>
                <a:ea typeface="Calibri (MS)"/>
                <a:cs typeface="Calibri (MS)"/>
                <a:sym typeface="Calibri (MS)"/>
              </a:rPr>
              <a:t>Therefore, this project proposes an Agentic AI solution for internship guidance and career preparation.</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5F7FA"/>
        </a:solidFill>
      </p:bgPr>
    </p:bg>
    <p:spTree>
      <p:nvGrpSpPr>
        <p:cNvPr id="1" name=""/>
        <p:cNvGrpSpPr/>
        <p:nvPr/>
      </p:nvGrpSpPr>
      <p:grpSpPr>
        <a:xfrm>
          <a:off x="0" y="0"/>
          <a:ext cx="0" cy="0"/>
          <a:chOff x="0" y="0"/>
          <a:chExt cx="0" cy="0"/>
        </a:xfrm>
      </p:grpSpPr>
      <p:sp>
        <p:nvSpPr>
          <p:cNvPr name="TextBox 2" id="2"/>
          <p:cNvSpPr txBox="true"/>
          <p:nvPr/>
        </p:nvSpPr>
        <p:spPr>
          <a:xfrm rot="0">
            <a:off x="1052312" y="577701"/>
            <a:ext cx="16289188" cy="1092422"/>
          </a:xfrm>
          <a:prstGeom prst="rect">
            <a:avLst/>
          </a:prstGeom>
        </p:spPr>
        <p:txBody>
          <a:bodyPr anchor="t" rtlCol="false" tIns="0" lIns="0" bIns="0" rIns="0">
            <a:spAutoFit/>
          </a:bodyPr>
          <a:lstStyle/>
          <a:p>
            <a:pPr algn="l">
              <a:lnSpc>
                <a:spcPts val="5043"/>
              </a:lnSpc>
            </a:pPr>
            <a:r>
              <a:rPr lang="en-US" sz="4203" b="true">
                <a:solidFill>
                  <a:srgbClr val="000000"/>
                </a:solidFill>
                <a:latin typeface="Calibri (MS) Bold"/>
                <a:ea typeface="Calibri (MS) Bold"/>
                <a:cs typeface="Calibri (MS) Bold"/>
                <a:sym typeface="Calibri (MS) Bold"/>
              </a:rPr>
              <a:t>OBJECTIVES &amp; PROPOSED SOLUTION</a:t>
            </a:r>
          </a:p>
        </p:txBody>
      </p:sp>
      <p:grpSp>
        <p:nvGrpSpPr>
          <p:cNvPr name="Group 3" id="3"/>
          <p:cNvGrpSpPr/>
          <p:nvPr/>
        </p:nvGrpSpPr>
        <p:grpSpPr>
          <a:xfrm rot="0">
            <a:off x="960872" y="1784471"/>
            <a:ext cx="2745343" cy="109814"/>
            <a:chOff x="0" y="0"/>
            <a:chExt cx="3660458" cy="146418"/>
          </a:xfrm>
        </p:grpSpPr>
        <p:sp>
          <p:nvSpPr>
            <p:cNvPr name="Freeform 4" id="4"/>
            <p:cNvSpPr/>
            <p:nvPr/>
          </p:nvSpPr>
          <p:spPr>
            <a:xfrm flipH="false" flipV="false" rot="0">
              <a:off x="0" y="0"/>
              <a:ext cx="3660521" cy="146431"/>
            </a:xfrm>
            <a:custGeom>
              <a:avLst/>
              <a:gdLst/>
              <a:ahLst/>
              <a:cxnLst/>
              <a:rect r="r" b="b" t="t" l="l"/>
              <a:pathLst>
                <a:path h="146431" w="3660521">
                  <a:moveTo>
                    <a:pt x="0" y="0"/>
                  </a:moveTo>
                  <a:lnTo>
                    <a:pt x="3660521" y="0"/>
                  </a:lnTo>
                  <a:lnTo>
                    <a:pt x="3660521" y="146431"/>
                  </a:lnTo>
                  <a:lnTo>
                    <a:pt x="0" y="146431"/>
                  </a:lnTo>
                  <a:close/>
                </a:path>
              </a:pathLst>
            </a:custGeom>
            <a:solidFill>
              <a:srgbClr val="3278B4"/>
            </a:solidFill>
          </p:spPr>
        </p:sp>
        <p:sp>
          <p:nvSpPr>
            <p:cNvPr name="TextBox 5" id="5"/>
            <p:cNvSpPr txBox="true"/>
            <p:nvPr/>
          </p:nvSpPr>
          <p:spPr>
            <a:xfrm>
              <a:off x="0" y="-57150"/>
              <a:ext cx="3660458" cy="203568"/>
            </a:xfrm>
            <a:prstGeom prst="rect">
              <a:avLst/>
            </a:prstGeom>
          </p:spPr>
          <p:txBody>
            <a:bodyPr anchor="ctr" rtlCol="false" tIns="50800" lIns="50800" bIns="50800" rIns="50800"/>
            <a:lstStyle/>
            <a:p>
              <a:pPr algn="l">
                <a:lnSpc>
                  <a:spcPts val="3242"/>
                </a:lnSpc>
              </a:pPr>
              <a:r>
                <a:rPr lang="en-US" sz="2702">
                  <a:solidFill>
                    <a:srgbClr val="FFFFFF"/>
                  </a:solidFill>
                  <a:latin typeface="Calibri (MS)"/>
                  <a:ea typeface="Calibri (MS)"/>
                  <a:cs typeface="Calibri (MS)"/>
                  <a:sym typeface="Calibri (MS)"/>
                </a:rPr>
                <a:t>Project Objectives</a:t>
              </a:r>
            </a:p>
            <a:p>
              <a:pPr algn="l">
                <a:lnSpc>
                  <a:spcPts val="3242"/>
                </a:lnSpc>
              </a:pPr>
              <a:r>
                <a:rPr lang="en-US" sz="2702">
                  <a:solidFill>
                    <a:srgbClr val="FFFFFF"/>
                  </a:solidFill>
                  <a:latin typeface="Calibri (MS)"/>
                  <a:ea typeface="Calibri (MS)"/>
                  <a:cs typeface="Calibri (MS)"/>
                  <a:sym typeface="Calibri (MS)"/>
                </a:rPr>
                <a:t>• To develop a Generative AI-based student assistant.</a:t>
              </a:r>
            </a:p>
            <a:p>
              <a:pPr algn="l">
                <a:lnSpc>
                  <a:spcPts val="3242"/>
                </a:lnSpc>
              </a:pPr>
              <a:r>
                <a:rPr lang="en-US" sz="2702">
                  <a:solidFill>
                    <a:srgbClr val="FFFFFF"/>
                  </a:solidFill>
                  <a:latin typeface="Calibri (MS)"/>
                  <a:ea typeface="Calibri (MS)"/>
                  <a:cs typeface="Calibri (MS)"/>
                  <a:sym typeface="Calibri (MS)"/>
                </a:rPr>
                <a:t>• To generate useful content from natural language prompts.</a:t>
              </a:r>
            </a:p>
            <a:p>
              <a:pPr algn="l">
                <a:lnSpc>
                  <a:spcPts val="3242"/>
                </a:lnSpc>
              </a:pPr>
              <a:r>
                <a:rPr lang="en-US" sz="2702">
                  <a:solidFill>
                    <a:srgbClr val="FFFFFF"/>
                  </a:solidFill>
                  <a:latin typeface="Calibri (MS)"/>
                  <a:ea typeface="Calibri (MS)"/>
                  <a:cs typeface="Calibri (MS)"/>
                  <a:sym typeface="Calibri (MS)"/>
                </a:rPr>
                <a:t>• To help students create notes, summaries, and ideas.</a:t>
              </a:r>
            </a:p>
            <a:p>
              <a:pPr algn="l">
                <a:lnSpc>
                  <a:spcPts val="3242"/>
                </a:lnSpc>
              </a:pPr>
              <a:r>
                <a:rPr lang="en-US" sz="2702">
                  <a:solidFill>
                    <a:srgbClr val="FFFFFF"/>
                  </a:solidFill>
                  <a:latin typeface="Calibri (MS)"/>
                  <a:ea typeface="Calibri (MS)"/>
                  <a:cs typeface="Calibri (MS)"/>
                  <a:sym typeface="Calibri (MS)"/>
                </a:rPr>
                <a:t>• To provide personalized academic and career guidance.</a:t>
              </a:r>
            </a:p>
            <a:p>
              <a:pPr algn="l">
                <a:lnSpc>
                  <a:spcPts val="3242"/>
                </a:lnSpc>
              </a:pPr>
              <a:r>
                <a:rPr lang="en-US" sz="2702">
                  <a:solidFill>
                    <a:srgbClr val="FFFFFF"/>
                  </a:solidFill>
                  <a:latin typeface="Calibri (MS)"/>
                  <a:ea typeface="Calibri (MS)"/>
                  <a:cs typeface="Calibri (MS)"/>
                  <a:sym typeface="Calibri (MS)"/>
                </a:rPr>
                <a:t>• To reduce the time required for content creation.</a:t>
              </a:r>
            </a:p>
            <a:p>
              <a:pPr algn="l">
                <a:lnSpc>
                  <a:spcPts val="3242"/>
                </a:lnSpc>
              </a:pPr>
              <a:r>
                <a:rPr lang="en-US" sz="2702">
                  <a:solidFill>
                    <a:srgbClr val="FFFFFF"/>
                  </a:solidFill>
                  <a:latin typeface="Calibri (MS)"/>
                  <a:ea typeface="Calibri (MS)"/>
                  <a:cs typeface="Calibri (MS)"/>
                  <a:sym typeface="Calibri (MS)"/>
                </a:rPr>
                <a:t>• To demonstrate the practical applications of Generative AI.</a:t>
              </a:r>
            </a:p>
            <a:p>
              <a:pPr algn="l">
                <a:lnSpc>
                  <a:spcPts val="3242"/>
                </a:lnSpc>
              </a:pPr>
            </a:p>
            <a:p>
              <a:pPr algn="l">
                <a:lnSpc>
                  <a:spcPts val="3242"/>
                </a:lnSpc>
              </a:pPr>
              <a:r>
                <a:rPr lang="en-US" sz="2702">
                  <a:solidFill>
                    <a:srgbClr val="FFFFFF"/>
                  </a:solidFill>
                  <a:latin typeface="Calibri (MS)"/>
                  <a:ea typeface="Calibri (MS)"/>
                  <a:cs typeface="Calibri (MS)"/>
                  <a:sym typeface="Calibri (MS)"/>
                </a:rPr>
                <a:t>Proposed Solution</a:t>
              </a:r>
            </a:p>
            <a:p>
              <a:pPr algn="l">
                <a:lnSpc>
                  <a:spcPts val="3242"/>
                </a:lnSpc>
              </a:pPr>
              <a:r>
                <a:rPr lang="en-US" sz="2702">
                  <a:solidFill>
                    <a:srgbClr val="FFFFFF"/>
                  </a:solidFill>
                  <a:latin typeface="Calibri (MS)"/>
                  <a:ea typeface="Calibri (MS)"/>
                  <a:cs typeface="Calibri (MS)"/>
                  <a:sym typeface="Calibri (MS)"/>
                </a:rPr>
                <a:t>The proposed system accepts a user prompt, processes it using a Generative AI model, understands the context, and generates relevant and meaningful output.</a:t>
              </a:r>
            </a:p>
          </p:txBody>
        </p:sp>
      </p:grpSp>
      <p:sp>
        <p:nvSpPr>
          <p:cNvPr name="TextBox 6" id="6"/>
          <p:cNvSpPr txBox="true"/>
          <p:nvPr/>
        </p:nvSpPr>
        <p:spPr>
          <a:xfrm rot="0">
            <a:off x="1326842" y="2184844"/>
            <a:ext cx="15877384" cy="7240876"/>
          </a:xfrm>
          <a:prstGeom prst="rect">
            <a:avLst/>
          </a:prstGeom>
        </p:spPr>
        <p:txBody>
          <a:bodyPr anchor="t" rtlCol="false" tIns="0" lIns="0" bIns="0" rIns="0">
            <a:spAutoFit/>
          </a:bodyPr>
          <a:lstStyle/>
          <a:p>
            <a:pPr algn="l">
              <a:lnSpc>
                <a:spcPts val="3242"/>
              </a:lnSpc>
            </a:pPr>
            <a:r>
              <a:rPr lang="en-US" sz="2702">
                <a:solidFill>
                  <a:srgbClr val="282828"/>
                </a:solidFill>
                <a:latin typeface="Calibri (MS)"/>
                <a:ea typeface="Calibri (MS)"/>
                <a:cs typeface="Calibri (MS)"/>
                <a:sym typeface="Calibri (MS)"/>
              </a:rPr>
              <a:t>Project Objectives</a:t>
            </a:r>
          </a:p>
          <a:p>
            <a:pPr algn="l">
              <a:lnSpc>
                <a:spcPts val="3242"/>
              </a:lnSpc>
            </a:pPr>
            <a:r>
              <a:rPr lang="en-US" sz="2702">
                <a:solidFill>
                  <a:srgbClr val="282828"/>
                </a:solidFill>
                <a:latin typeface="Calibri (MS)"/>
                <a:ea typeface="Calibri (MS)"/>
                <a:cs typeface="Calibri (MS)"/>
                <a:sym typeface="Calibri (MS)"/>
              </a:rPr>
              <a:t>• To develop an intelligent Agentic AI assistant for students.</a:t>
            </a:r>
          </a:p>
          <a:p>
            <a:pPr algn="l">
              <a:lnSpc>
                <a:spcPts val="3242"/>
              </a:lnSpc>
            </a:pPr>
            <a:r>
              <a:rPr lang="en-US" sz="2702">
                <a:solidFill>
                  <a:srgbClr val="282828"/>
                </a:solidFill>
                <a:latin typeface="Calibri (MS)"/>
                <a:ea typeface="Calibri (MS)"/>
                <a:cs typeface="Calibri (MS)"/>
                <a:sym typeface="Calibri (MS)"/>
              </a:rPr>
              <a:t>• To understand user goals and internship requirements.</a:t>
            </a:r>
          </a:p>
          <a:p>
            <a:pPr algn="l">
              <a:lnSpc>
                <a:spcPts val="3242"/>
              </a:lnSpc>
            </a:pPr>
            <a:r>
              <a:rPr lang="en-US" sz="2702">
                <a:solidFill>
                  <a:srgbClr val="282828"/>
                </a:solidFill>
                <a:latin typeface="Calibri (MS)"/>
                <a:ea typeface="Calibri (MS)"/>
                <a:cs typeface="Calibri (MS)"/>
                <a:sym typeface="Calibri (MS)"/>
              </a:rPr>
              <a:t>• To recommend suitable skills and learning paths.</a:t>
            </a:r>
          </a:p>
          <a:p>
            <a:pPr algn="l">
              <a:lnSpc>
                <a:spcPts val="3242"/>
              </a:lnSpc>
            </a:pPr>
            <a:r>
              <a:rPr lang="en-US" sz="2702">
                <a:solidFill>
                  <a:srgbClr val="282828"/>
                </a:solidFill>
                <a:latin typeface="Calibri (MS)"/>
                <a:ea typeface="Calibri (MS)"/>
                <a:cs typeface="Calibri (MS)"/>
                <a:sym typeface="Calibri (MS)"/>
              </a:rPr>
              <a:t>• To assist with resume and project preparation.</a:t>
            </a:r>
          </a:p>
          <a:p>
            <a:pPr algn="l">
              <a:lnSpc>
                <a:spcPts val="3242"/>
              </a:lnSpc>
            </a:pPr>
            <a:r>
              <a:rPr lang="en-US" sz="2702">
                <a:solidFill>
                  <a:srgbClr val="282828"/>
                </a:solidFill>
                <a:latin typeface="Calibri (MS)"/>
                <a:ea typeface="Calibri (MS)"/>
                <a:cs typeface="Calibri (MS)"/>
                <a:sym typeface="Calibri (MS)"/>
              </a:rPr>
              <a:t>• To provide personalized internship guidance.</a:t>
            </a:r>
          </a:p>
          <a:p>
            <a:pPr algn="l">
              <a:lnSpc>
                <a:spcPts val="3242"/>
              </a:lnSpc>
            </a:pPr>
            <a:r>
              <a:rPr lang="en-US" sz="2702">
                <a:solidFill>
                  <a:srgbClr val="282828"/>
                </a:solidFill>
                <a:latin typeface="Calibri (MS)"/>
                <a:ea typeface="Calibri (MS)"/>
                <a:cs typeface="Calibri (MS)"/>
                <a:sym typeface="Calibri (MS)"/>
              </a:rPr>
              <a:t>• To reduce the time required to search and organize information.</a:t>
            </a:r>
          </a:p>
          <a:p>
            <a:pPr algn="l">
              <a:lnSpc>
                <a:spcPts val="3242"/>
              </a:lnSpc>
            </a:pPr>
          </a:p>
          <a:p>
            <a:pPr algn="l">
              <a:lnSpc>
                <a:spcPts val="3242"/>
              </a:lnSpc>
            </a:pPr>
            <a:r>
              <a:rPr lang="en-US" sz="2702">
                <a:solidFill>
                  <a:srgbClr val="282828"/>
                </a:solidFill>
                <a:latin typeface="Calibri (MS)"/>
                <a:ea typeface="Calibri (MS)"/>
                <a:cs typeface="Calibri (MS)"/>
                <a:sym typeface="Calibri (MS)"/>
              </a:rPr>
              <a:t>Proposed Solution</a:t>
            </a:r>
          </a:p>
          <a:p>
            <a:pPr algn="l">
              <a:lnSpc>
                <a:spcPts val="3242"/>
              </a:lnSpc>
            </a:pPr>
            <a:r>
              <a:rPr lang="en-US" sz="2702">
                <a:solidFill>
                  <a:srgbClr val="282828"/>
                </a:solidFill>
                <a:latin typeface="Calibri (MS)"/>
                <a:ea typeface="Calibri (MS)"/>
                <a:cs typeface="Calibri (MS)"/>
                <a:sym typeface="Calibri (MS)"/>
              </a:rPr>
              <a:t>The proposed system uses an AI agent that receives a student request, analyzes the objective, plans the required steps, uses relevant tools or knowledge, and generates a useful response.</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5F7FA"/>
        </a:solidFill>
      </p:bgPr>
    </p:bg>
    <p:spTree>
      <p:nvGrpSpPr>
        <p:cNvPr id="1" name=""/>
        <p:cNvGrpSpPr/>
        <p:nvPr/>
      </p:nvGrpSpPr>
      <p:grpSpPr>
        <a:xfrm>
          <a:off x="0" y="0"/>
          <a:ext cx="0" cy="0"/>
          <a:chOff x="0" y="0"/>
          <a:chExt cx="0" cy="0"/>
        </a:xfrm>
      </p:grpSpPr>
      <p:sp>
        <p:nvSpPr>
          <p:cNvPr name="TextBox 2" id="2"/>
          <p:cNvSpPr txBox="true"/>
          <p:nvPr/>
        </p:nvSpPr>
        <p:spPr>
          <a:xfrm rot="0">
            <a:off x="1052312" y="577701"/>
            <a:ext cx="16289188" cy="1092422"/>
          </a:xfrm>
          <a:prstGeom prst="rect">
            <a:avLst/>
          </a:prstGeom>
        </p:spPr>
        <p:txBody>
          <a:bodyPr anchor="t" rtlCol="false" tIns="0" lIns="0" bIns="0" rIns="0">
            <a:spAutoFit/>
          </a:bodyPr>
          <a:lstStyle/>
          <a:p>
            <a:pPr algn="l">
              <a:lnSpc>
                <a:spcPts val="5043"/>
              </a:lnSpc>
            </a:pPr>
            <a:r>
              <a:rPr lang="en-US" sz="4203" b="true">
                <a:solidFill>
                  <a:srgbClr val="000000"/>
                </a:solidFill>
                <a:latin typeface="Calibri (MS) Bold"/>
                <a:ea typeface="Calibri (MS) Bold"/>
                <a:cs typeface="Calibri (MS) Bold"/>
                <a:sym typeface="Calibri (MS) Bold"/>
              </a:rPr>
              <a:t>HOW THE GENERATIVE AI SOLUTION WORKS</a:t>
            </a:r>
          </a:p>
        </p:txBody>
      </p:sp>
      <p:grpSp>
        <p:nvGrpSpPr>
          <p:cNvPr name="Group 3" id="3"/>
          <p:cNvGrpSpPr/>
          <p:nvPr/>
        </p:nvGrpSpPr>
        <p:grpSpPr>
          <a:xfrm rot="0">
            <a:off x="960872" y="1784471"/>
            <a:ext cx="2745343" cy="109814"/>
            <a:chOff x="0" y="0"/>
            <a:chExt cx="3660458" cy="146418"/>
          </a:xfrm>
        </p:grpSpPr>
        <p:sp>
          <p:nvSpPr>
            <p:cNvPr name="Freeform 4" id="4"/>
            <p:cNvSpPr/>
            <p:nvPr/>
          </p:nvSpPr>
          <p:spPr>
            <a:xfrm flipH="false" flipV="false" rot="0">
              <a:off x="0" y="0"/>
              <a:ext cx="3660521" cy="146431"/>
            </a:xfrm>
            <a:custGeom>
              <a:avLst/>
              <a:gdLst/>
              <a:ahLst/>
              <a:cxnLst/>
              <a:rect r="r" b="b" t="t" l="l"/>
              <a:pathLst>
                <a:path h="146431" w="3660521">
                  <a:moveTo>
                    <a:pt x="0" y="0"/>
                  </a:moveTo>
                  <a:lnTo>
                    <a:pt x="3660521" y="0"/>
                  </a:lnTo>
                  <a:lnTo>
                    <a:pt x="3660521" y="146431"/>
                  </a:lnTo>
                  <a:lnTo>
                    <a:pt x="0" y="146431"/>
                  </a:lnTo>
                  <a:close/>
                </a:path>
              </a:pathLst>
            </a:custGeom>
            <a:solidFill>
              <a:srgbClr val="3278B4"/>
            </a:solidFill>
          </p:spPr>
        </p:sp>
        <p:sp>
          <p:nvSpPr>
            <p:cNvPr name="TextBox 5" id="5"/>
            <p:cNvSpPr txBox="true"/>
            <p:nvPr/>
          </p:nvSpPr>
          <p:spPr>
            <a:xfrm>
              <a:off x="0" y="-57150"/>
              <a:ext cx="3660458" cy="203568"/>
            </a:xfrm>
            <a:prstGeom prst="rect">
              <a:avLst/>
            </a:prstGeom>
          </p:spPr>
          <p:txBody>
            <a:bodyPr anchor="ctr" rtlCol="false" tIns="50800" lIns="50800" bIns="50800" rIns="50800"/>
            <a:lstStyle/>
            <a:p>
              <a:pPr algn="l">
                <a:lnSpc>
                  <a:spcPts val="3242"/>
                </a:lnSpc>
              </a:pPr>
              <a:r>
                <a:rPr lang="en-US" sz="2702">
                  <a:solidFill>
                    <a:srgbClr val="FFFFFF"/>
                  </a:solidFill>
                  <a:latin typeface="Calibri (MS)"/>
                  <a:ea typeface="Calibri (MS)"/>
                  <a:cs typeface="Calibri (MS)"/>
                  <a:sym typeface="Calibri (MS)"/>
                </a:rPr>
                <a:t>1. User Input</a:t>
              </a:r>
            </a:p>
            <a:p>
              <a:pPr algn="l">
                <a:lnSpc>
                  <a:spcPts val="3242"/>
                </a:lnSpc>
              </a:pPr>
              <a:r>
                <a:rPr lang="en-US" sz="2702">
                  <a:solidFill>
                    <a:srgbClr val="FFFFFF"/>
                  </a:solidFill>
                  <a:latin typeface="Calibri (MS)"/>
                  <a:ea typeface="Calibri (MS)"/>
                  <a:cs typeface="Calibri (MS)"/>
                  <a:sym typeface="Calibri (MS)"/>
                </a:rPr>
                <a:t>The user enters a question, topic, or prompt.</a:t>
              </a:r>
            </a:p>
            <a:p>
              <a:pPr algn="l">
                <a:lnSpc>
                  <a:spcPts val="3242"/>
                </a:lnSpc>
              </a:pPr>
            </a:p>
            <a:p>
              <a:pPr algn="l">
                <a:lnSpc>
                  <a:spcPts val="3242"/>
                </a:lnSpc>
              </a:pPr>
              <a:r>
                <a:rPr lang="en-US" sz="2702">
                  <a:solidFill>
                    <a:srgbClr val="FFFFFF"/>
                  </a:solidFill>
                  <a:latin typeface="Calibri (MS)"/>
                  <a:ea typeface="Calibri (MS)"/>
                  <a:cs typeface="Calibri (MS)"/>
                  <a:sym typeface="Calibri (MS)"/>
                </a:rPr>
                <a:t>2. Prompt Processing</a:t>
              </a:r>
            </a:p>
            <a:p>
              <a:pPr algn="l">
                <a:lnSpc>
                  <a:spcPts val="3242"/>
                </a:lnSpc>
              </a:pPr>
              <a:r>
                <a:rPr lang="en-US" sz="2702">
                  <a:solidFill>
                    <a:srgbClr val="FFFFFF"/>
                  </a:solidFill>
                  <a:latin typeface="Calibri (MS)"/>
                  <a:ea typeface="Calibri (MS)"/>
                  <a:cs typeface="Calibri (MS)"/>
                  <a:sym typeface="Calibri (MS)"/>
                </a:rPr>
                <a:t>The system analyzes the request and identifies the required content.</a:t>
              </a:r>
            </a:p>
            <a:p>
              <a:pPr algn="l">
                <a:lnSpc>
                  <a:spcPts val="3242"/>
                </a:lnSpc>
              </a:pPr>
            </a:p>
            <a:p>
              <a:pPr algn="l">
                <a:lnSpc>
                  <a:spcPts val="3242"/>
                </a:lnSpc>
              </a:pPr>
              <a:r>
                <a:rPr lang="en-US" sz="2702">
                  <a:solidFill>
                    <a:srgbClr val="FFFFFF"/>
                  </a:solidFill>
                  <a:latin typeface="Calibri (MS)"/>
                  <a:ea typeface="Calibri (MS)"/>
                  <a:cs typeface="Calibri (MS)"/>
                  <a:sym typeface="Calibri (MS)"/>
                </a:rPr>
                <a:t>3. Context Understanding</a:t>
              </a:r>
            </a:p>
            <a:p>
              <a:pPr algn="l">
                <a:lnSpc>
                  <a:spcPts val="3242"/>
                </a:lnSpc>
              </a:pPr>
              <a:r>
                <a:rPr lang="en-US" sz="2702">
                  <a:solidFill>
                    <a:srgbClr val="FFFFFF"/>
                  </a:solidFill>
                  <a:latin typeface="Calibri (MS)"/>
                  <a:ea typeface="Calibri (MS)"/>
                  <a:cs typeface="Calibri (MS)"/>
                  <a:sym typeface="Calibri (MS)"/>
                </a:rPr>
                <a:t>The AI model understands the meaning and context of the prompt.</a:t>
              </a:r>
            </a:p>
            <a:p>
              <a:pPr algn="l">
                <a:lnSpc>
                  <a:spcPts val="3242"/>
                </a:lnSpc>
              </a:pPr>
            </a:p>
            <a:p>
              <a:pPr algn="l">
                <a:lnSpc>
                  <a:spcPts val="3242"/>
                </a:lnSpc>
              </a:pPr>
              <a:r>
                <a:rPr lang="en-US" sz="2702">
                  <a:solidFill>
                    <a:srgbClr val="FFFFFF"/>
                  </a:solidFill>
                  <a:latin typeface="Calibri (MS)"/>
                  <a:ea typeface="Calibri (MS)"/>
                  <a:cs typeface="Calibri (MS)"/>
                  <a:sym typeface="Calibri (MS)"/>
                </a:rPr>
                <a:t>4. Content Generation</a:t>
              </a:r>
            </a:p>
            <a:p>
              <a:pPr algn="l">
                <a:lnSpc>
                  <a:spcPts val="3242"/>
                </a:lnSpc>
              </a:pPr>
              <a:r>
                <a:rPr lang="en-US" sz="2702">
                  <a:solidFill>
                    <a:srgbClr val="FFFFFF"/>
                  </a:solidFill>
                  <a:latin typeface="Calibri (MS)"/>
                  <a:ea typeface="Calibri (MS)"/>
                  <a:cs typeface="Calibri (MS)"/>
                  <a:sym typeface="Calibri (MS)"/>
                </a:rPr>
                <a:t>Generative AI creates a relevant response based on learned patterns.</a:t>
              </a:r>
            </a:p>
            <a:p>
              <a:pPr algn="l">
                <a:lnSpc>
                  <a:spcPts val="3242"/>
                </a:lnSpc>
              </a:pPr>
            </a:p>
            <a:p>
              <a:pPr algn="l">
                <a:lnSpc>
                  <a:spcPts val="3242"/>
                </a:lnSpc>
              </a:pPr>
              <a:r>
                <a:rPr lang="en-US" sz="2702">
                  <a:solidFill>
                    <a:srgbClr val="FFFFFF"/>
                  </a:solidFill>
                  <a:latin typeface="Calibri (MS)"/>
                  <a:ea typeface="Calibri (MS)"/>
                  <a:cs typeface="Calibri (MS)"/>
                  <a:sym typeface="Calibri (MS)"/>
                </a:rPr>
                <a:t>5. Output Refinement</a:t>
              </a:r>
            </a:p>
            <a:p>
              <a:pPr algn="l">
                <a:lnSpc>
                  <a:spcPts val="3242"/>
                </a:lnSpc>
              </a:pPr>
              <a:r>
                <a:rPr lang="en-US" sz="2702">
                  <a:solidFill>
                    <a:srgbClr val="FFFFFF"/>
                  </a:solidFill>
                  <a:latin typeface="Calibri (MS)"/>
                  <a:ea typeface="Calibri (MS)"/>
                  <a:cs typeface="Calibri (MS)"/>
                  <a:sym typeface="Calibri (MS)"/>
                </a:rPr>
                <a:t>The generated content is organized into a clear and useful format.</a:t>
              </a:r>
            </a:p>
            <a:p>
              <a:pPr algn="l">
                <a:lnSpc>
                  <a:spcPts val="3242"/>
                </a:lnSpc>
              </a:pPr>
            </a:p>
            <a:p>
              <a:pPr algn="l">
                <a:lnSpc>
                  <a:spcPts val="3242"/>
                </a:lnSpc>
              </a:pPr>
              <a:r>
                <a:rPr lang="en-US" sz="2702">
                  <a:solidFill>
                    <a:srgbClr val="FFFFFF"/>
                  </a:solidFill>
                  <a:latin typeface="Calibri (MS)"/>
                  <a:ea typeface="Calibri (MS)"/>
                  <a:cs typeface="Calibri (MS)"/>
                  <a:sym typeface="Calibri (MS)"/>
                </a:rPr>
                <a:t>6. Final Response</a:t>
              </a:r>
            </a:p>
            <a:p>
              <a:pPr algn="l">
                <a:lnSpc>
                  <a:spcPts val="3242"/>
                </a:lnSpc>
              </a:pPr>
              <a:r>
                <a:rPr lang="en-US" sz="2702">
                  <a:solidFill>
                    <a:srgbClr val="FFFFFF"/>
                  </a:solidFill>
                  <a:latin typeface="Calibri (MS)"/>
                  <a:ea typeface="Calibri (MS)"/>
                  <a:cs typeface="Calibri (MS)"/>
                  <a:sym typeface="Calibri (MS)"/>
                </a:rPr>
                <a:t>The user receives the generated answer, summary, idea, or guidance.</a:t>
              </a:r>
            </a:p>
            <a:p>
              <a:pPr algn="l">
                <a:lnSpc>
                  <a:spcPts val="3242"/>
                </a:lnSpc>
              </a:pPr>
            </a:p>
            <a:p>
              <a:pPr algn="l">
                <a:lnSpc>
                  <a:spcPts val="3242"/>
                </a:lnSpc>
              </a:pPr>
              <a:r>
                <a:rPr lang="en-US" sz="2702">
                  <a:solidFill>
                    <a:srgbClr val="FFFFFF"/>
                  </a:solidFill>
                  <a:latin typeface="Calibri (MS)"/>
                  <a:ea typeface="Calibri (MS)"/>
                  <a:cs typeface="Calibri (MS)"/>
                  <a:sym typeface="Calibri (MS)"/>
                </a:rPr>
                <a:t>Workflow:</a:t>
              </a:r>
            </a:p>
            <a:p>
              <a:pPr algn="l">
                <a:lnSpc>
                  <a:spcPts val="3242"/>
                </a:lnSpc>
              </a:pPr>
              <a:r>
                <a:rPr lang="en-US" sz="2702">
                  <a:solidFill>
                    <a:srgbClr val="FFFFFF"/>
                  </a:solidFill>
                  <a:latin typeface="Calibri (MS)"/>
                  <a:ea typeface="Calibri (MS)"/>
                  <a:cs typeface="Calibri (MS)"/>
                  <a:sym typeface="Calibri (MS)"/>
                </a:rPr>
                <a:t>User → Prompt → Generative AI Model → Context Processing → Content Generation → Final Output</a:t>
              </a:r>
            </a:p>
          </p:txBody>
        </p:sp>
      </p:grpSp>
      <p:sp>
        <p:nvSpPr>
          <p:cNvPr name="TextBox 6" id="6"/>
          <p:cNvSpPr txBox="true"/>
          <p:nvPr/>
        </p:nvSpPr>
        <p:spPr>
          <a:xfrm rot="0">
            <a:off x="1487592" y="2321995"/>
            <a:ext cx="14155026" cy="6442545"/>
          </a:xfrm>
          <a:prstGeom prst="rect">
            <a:avLst/>
          </a:prstGeom>
        </p:spPr>
        <p:txBody>
          <a:bodyPr anchor="t" rtlCol="false" tIns="0" lIns="0" bIns="0" rIns="0">
            <a:spAutoFit/>
          </a:bodyPr>
          <a:lstStyle/>
          <a:p>
            <a:pPr algn="l">
              <a:lnSpc>
                <a:spcPts val="2890"/>
              </a:lnSpc>
            </a:pPr>
            <a:r>
              <a:rPr lang="en-US" sz="2408">
                <a:solidFill>
                  <a:srgbClr val="282828"/>
                </a:solidFill>
                <a:latin typeface="Calibri (MS)"/>
                <a:ea typeface="Calibri (MS)"/>
                <a:cs typeface="Calibri (MS)"/>
                <a:sym typeface="Calibri (MS)"/>
              </a:rPr>
              <a:t>1. User Input</a:t>
            </a:r>
          </a:p>
          <a:p>
            <a:pPr algn="l">
              <a:lnSpc>
                <a:spcPts val="2890"/>
              </a:lnSpc>
            </a:pPr>
            <a:r>
              <a:rPr lang="en-US" sz="2408">
                <a:solidFill>
                  <a:srgbClr val="282828"/>
                </a:solidFill>
                <a:latin typeface="Calibri (MS)"/>
                <a:ea typeface="Calibri (MS)"/>
                <a:cs typeface="Calibri (MS)"/>
                <a:sym typeface="Calibri (MS)"/>
              </a:rPr>
              <a:t>The student enters a request or career-related question.</a:t>
            </a:r>
          </a:p>
          <a:p>
            <a:pPr algn="l">
              <a:lnSpc>
                <a:spcPts val="2890"/>
              </a:lnSpc>
            </a:pPr>
          </a:p>
          <a:p>
            <a:pPr algn="l">
              <a:lnSpc>
                <a:spcPts val="2890"/>
              </a:lnSpc>
            </a:pPr>
            <a:r>
              <a:rPr lang="en-US" sz="2408">
                <a:solidFill>
                  <a:srgbClr val="282828"/>
                </a:solidFill>
                <a:latin typeface="Calibri (MS)"/>
                <a:ea typeface="Calibri (MS)"/>
                <a:cs typeface="Calibri (MS)"/>
                <a:sym typeface="Calibri (MS)"/>
              </a:rPr>
              <a:t>2. Goal Understanding</a:t>
            </a:r>
          </a:p>
          <a:p>
            <a:pPr algn="l">
              <a:lnSpc>
                <a:spcPts val="2890"/>
              </a:lnSpc>
            </a:pPr>
            <a:r>
              <a:rPr lang="en-US" sz="2408">
                <a:solidFill>
                  <a:srgbClr val="282828"/>
                </a:solidFill>
                <a:latin typeface="Calibri (MS)"/>
                <a:ea typeface="Calibri (MS)"/>
                <a:cs typeface="Calibri (MS)"/>
                <a:sym typeface="Calibri (MS)"/>
              </a:rPr>
              <a:t>The AI agent identifies the user's intention and required outcome.</a:t>
            </a:r>
          </a:p>
          <a:p>
            <a:pPr algn="l">
              <a:lnSpc>
                <a:spcPts val="2890"/>
              </a:lnSpc>
            </a:pPr>
          </a:p>
          <a:p>
            <a:pPr algn="l">
              <a:lnSpc>
                <a:spcPts val="2890"/>
              </a:lnSpc>
            </a:pPr>
            <a:r>
              <a:rPr lang="en-US" sz="2408">
                <a:solidFill>
                  <a:srgbClr val="282828"/>
                </a:solidFill>
                <a:latin typeface="Calibri (MS)"/>
                <a:ea typeface="Calibri (MS)"/>
                <a:cs typeface="Calibri (MS)"/>
                <a:sym typeface="Calibri (MS)"/>
              </a:rPr>
              <a:t>3. Planning</a:t>
            </a:r>
          </a:p>
          <a:p>
            <a:pPr algn="l">
              <a:lnSpc>
                <a:spcPts val="2890"/>
              </a:lnSpc>
            </a:pPr>
            <a:r>
              <a:rPr lang="en-US" sz="2408">
                <a:solidFill>
                  <a:srgbClr val="282828"/>
                </a:solidFill>
                <a:latin typeface="Calibri (MS)"/>
                <a:ea typeface="Calibri (MS)"/>
                <a:cs typeface="Calibri (MS)"/>
                <a:sym typeface="Calibri (MS)"/>
              </a:rPr>
              <a:t>The agent breaks the task into smaller steps.</a:t>
            </a:r>
          </a:p>
          <a:p>
            <a:pPr algn="l">
              <a:lnSpc>
                <a:spcPts val="2890"/>
              </a:lnSpc>
            </a:pPr>
          </a:p>
          <a:p>
            <a:pPr algn="l">
              <a:lnSpc>
                <a:spcPts val="2890"/>
              </a:lnSpc>
            </a:pPr>
            <a:r>
              <a:rPr lang="en-US" sz="2408">
                <a:solidFill>
                  <a:srgbClr val="282828"/>
                </a:solidFill>
                <a:latin typeface="Calibri (MS)"/>
                <a:ea typeface="Calibri (MS)"/>
                <a:cs typeface="Calibri (MS)"/>
                <a:sym typeface="Calibri (MS)"/>
              </a:rPr>
              <a:t>4. Information Processing</a:t>
            </a:r>
          </a:p>
          <a:p>
            <a:pPr algn="l">
              <a:lnSpc>
                <a:spcPts val="2890"/>
              </a:lnSpc>
            </a:pPr>
            <a:r>
              <a:rPr lang="en-US" sz="2408">
                <a:solidFill>
                  <a:srgbClr val="282828"/>
                </a:solidFill>
                <a:latin typeface="Calibri (MS)"/>
                <a:ea typeface="Calibri (MS)"/>
                <a:cs typeface="Calibri (MS)"/>
                <a:sym typeface="Calibri (MS)"/>
              </a:rPr>
              <a:t>Relevant knowledge, memory, or available tools are used.</a:t>
            </a:r>
          </a:p>
          <a:p>
            <a:pPr algn="l">
              <a:lnSpc>
                <a:spcPts val="2890"/>
              </a:lnSpc>
            </a:pPr>
          </a:p>
          <a:p>
            <a:pPr algn="l">
              <a:lnSpc>
                <a:spcPts val="2890"/>
              </a:lnSpc>
            </a:pPr>
            <a:r>
              <a:rPr lang="en-US" sz="2408">
                <a:solidFill>
                  <a:srgbClr val="282828"/>
                </a:solidFill>
                <a:latin typeface="Calibri (MS)"/>
                <a:ea typeface="Calibri (MS)"/>
                <a:cs typeface="Calibri (MS)"/>
                <a:sym typeface="Calibri (MS)"/>
              </a:rPr>
              <a:t>5. Decision Making</a:t>
            </a:r>
          </a:p>
          <a:p>
            <a:pPr algn="l">
              <a:lnSpc>
                <a:spcPts val="2890"/>
              </a:lnSpc>
            </a:pPr>
            <a:r>
              <a:rPr lang="en-US" sz="2408">
                <a:solidFill>
                  <a:srgbClr val="282828"/>
                </a:solidFill>
                <a:latin typeface="Calibri (MS)"/>
                <a:ea typeface="Calibri (MS)"/>
                <a:cs typeface="Calibri (MS)"/>
                <a:sym typeface="Calibri (MS)"/>
              </a:rPr>
              <a:t>The agent evaluates the information and selects an appropriate response.</a:t>
            </a:r>
          </a:p>
          <a:p>
            <a:pPr algn="l">
              <a:lnSpc>
                <a:spcPts val="2890"/>
              </a:lnSpc>
            </a:pPr>
          </a:p>
          <a:p>
            <a:pPr algn="l">
              <a:lnSpc>
                <a:spcPts val="2890"/>
              </a:lnSpc>
            </a:pPr>
            <a:r>
              <a:rPr lang="en-US" sz="2408">
                <a:solidFill>
                  <a:srgbClr val="282828"/>
                </a:solidFill>
                <a:latin typeface="Calibri (MS)"/>
                <a:ea typeface="Calibri (MS)"/>
                <a:cs typeface="Calibri (MS)"/>
                <a:sym typeface="Calibri (MS)"/>
              </a:rPr>
              <a:t>6. Final Response</a:t>
            </a:r>
          </a:p>
          <a:p>
            <a:pPr algn="l">
              <a:lnSpc>
                <a:spcPts val="2890"/>
              </a:lnSpc>
            </a:pPr>
            <a:r>
              <a:rPr lang="en-US" sz="2408">
                <a:solidFill>
                  <a:srgbClr val="282828"/>
                </a:solidFill>
                <a:latin typeface="Calibri (MS)"/>
                <a:ea typeface="Calibri (MS)"/>
                <a:cs typeface="Calibri (MS)"/>
                <a:sym typeface="Calibri (MS)"/>
              </a:rPr>
              <a:t>Personalized recommendations and guidance are provided to the student.</a:t>
            </a:r>
          </a:p>
          <a:p>
            <a:pPr algn="l">
              <a:lnSpc>
                <a:spcPts val="2890"/>
              </a:lnSpc>
            </a:pPr>
          </a:p>
          <a:p>
            <a:pPr algn="l">
              <a:lnSpc>
                <a:spcPts val="2890"/>
              </a:lnSpc>
            </a:pPr>
            <a:r>
              <a:rPr lang="en-US" sz="2408">
                <a:solidFill>
                  <a:srgbClr val="282828"/>
                </a:solidFill>
                <a:latin typeface="Calibri (MS)"/>
                <a:ea typeface="Calibri (MS)"/>
                <a:cs typeface="Calibri (MS)"/>
                <a:sym typeface="Calibri (MS)"/>
              </a:rPr>
              <a:t>Workflow:</a:t>
            </a:r>
          </a:p>
          <a:p>
            <a:pPr algn="l">
              <a:lnSpc>
                <a:spcPts val="2890"/>
              </a:lnSpc>
            </a:pPr>
            <a:r>
              <a:rPr lang="en-US" sz="2408">
                <a:solidFill>
                  <a:srgbClr val="282828"/>
                </a:solidFill>
                <a:latin typeface="Calibri (MS)"/>
                <a:ea typeface="Calibri (MS)"/>
                <a:cs typeface="Calibri (MS)"/>
                <a:sym typeface="Calibri (MS)"/>
              </a:rPr>
              <a:t>User → AI Agent → Understand Goal → Plan → Process/Use Tools → Evaluate → Response</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5F7FA"/>
        </a:solidFill>
      </p:bgPr>
    </p:bg>
    <p:spTree>
      <p:nvGrpSpPr>
        <p:cNvPr id="1" name=""/>
        <p:cNvGrpSpPr/>
        <p:nvPr/>
      </p:nvGrpSpPr>
      <p:grpSpPr>
        <a:xfrm>
          <a:off x="0" y="0"/>
          <a:ext cx="0" cy="0"/>
          <a:chOff x="0" y="0"/>
          <a:chExt cx="0" cy="0"/>
        </a:xfrm>
      </p:grpSpPr>
      <p:sp>
        <p:nvSpPr>
          <p:cNvPr name="TextBox 2" id="2"/>
          <p:cNvSpPr txBox="true"/>
          <p:nvPr/>
        </p:nvSpPr>
        <p:spPr>
          <a:xfrm rot="0">
            <a:off x="1052312" y="577701"/>
            <a:ext cx="16289188" cy="1092422"/>
          </a:xfrm>
          <a:prstGeom prst="rect">
            <a:avLst/>
          </a:prstGeom>
        </p:spPr>
        <p:txBody>
          <a:bodyPr anchor="t" rtlCol="false" tIns="0" lIns="0" bIns="0" rIns="0">
            <a:spAutoFit/>
          </a:bodyPr>
          <a:lstStyle/>
          <a:p>
            <a:pPr algn="l">
              <a:lnSpc>
                <a:spcPts val="5043"/>
              </a:lnSpc>
            </a:pPr>
            <a:r>
              <a:rPr lang="en-US" sz="4203" b="true">
                <a:solidFill>
                  <a:srgbClr val="000000"/>
                </a:solidFill>
                <a:latin typeface="Calibri (MS) Bold"/>
                <a:ea typeface="Calibri (MS) Bold"/>
                <a:cs typeface="Calibri (MS) Bold"/>
                <a:sym typeface="Calibri (MS) Bold"/>
              </a:rPr>
              <a:t>KEY FEATURES</a:t>
            </a:r>
          </a:p>
        </p:txBody>
      </p:sp>
      <p:grpSp>
        <p:nvGrpSpPr>
          <p:cNvPr name="Group 3" id="3"/>
          <p:cNvGrpSpPr/>
          <p:nvPr/>
        </p:nvGrpSpPr>
        <p:grpSpPr>
          <a:xfrm rot="0">
            <a:off x="960872" y="1784471"/>
            <a:ext cx="2745343" cy="109814"/>
            <a:chOff x="0" y="0"/>
            <a:chExt cx="3660458" cy="146418"/>
          </a:xfrm>
        </p:grpSpPr>
        <p:sp>
          <p:nvSpPr>
            <p:cNvPr name="Freeform 4" id="4"/>
            <p:cNvSpPr/>
            <p:nvPr/>
          </p:nvSpPr>
          <p:spPr>
            <a:xfrm flipH="false" flipV="false" rot="0">
              <a:off x="0" y="0"/>
              <a:ext cx="3660521" cy="146431"/>
            </a:xfrm>
            <a:custGeom>
              <a:avLst/>
              <a:gdLst/>
              <a:ahLst/>
              <a:cxnLst/>
              <a:rect r="r" b="b" t="t" l="l"/>
              <a:pathLst>
                <a:path h="146431" w="3660521">
                  <a:moveTo>
                    <a:pt x="0" y="0"/>
                  </a:moveTo>
                  <a:lnTo>
                    <a:pt x="3660521" y="0"/>
                  </a:lnTo>
                  <a:lnTo>
                    <a:pt x="3660521" y="146431"/>
                  </a:lnTo>
                  <a:lnTo>
                    <a:pt x="0" y="146431"/>
                  </a:lnTo>
                  <a:close/>
                </a:path>
              </a:pathLst>
            </a:custGeom>
            <a:solidFill>
              <a:srgbClr val="3278B4"/>
            </a:solidFill>
          </p:spPr>
        </p:sp>
        <p:sp>
          <p:nvSpPr>
            <p:cNvPr name="TextBox 5" id="5"/>
            <p:cNvSpPr txBox="true"/>
            <p:nvPr/>
          </p:nvSpPr>
          <p:spPr>
            <a:xfrm>
              <a:off x="0" y="-57150"/>
              <a:ext cx="3660458" cy="203568"/>
            </a:xfrm>
            <a:prstGeom prst="rect">
              <a:avLst/>
            </a:prstGeom>
          </p:spPr>
          <p:txBody>
            <a:bodyPr anchor="ctr" rtlCol="false" tIns="50800" lIns="50800" bIns="50800" rIns="50800"/>
            <a:lstStyle/>
            <a:p>
              <a:pPr algn="l">
                <a:lnSpc>
                  <a:spcPts val="3242"/>
                </a:lnSpc>
              </a:pPr>
              <a:r>
                <a:rPr lang="en-US" sz="2702">
                  <a:solidFill>
                    <a:srgbClr val="FFFFFF"/>
                  </a:solidFill>
                  <a:latin typeface="Calibri (MS)"/>
                  <a:ea typeface="Calibri (MS)"/>
                  <a:cs typeface="Calibri (MS)"/>
                  <a:sym typeface="Calibri (MS)"/>
                </a:rPr>
                <a:t>• Natural language interaction.</a:t>
              </a:r>
            </a:p>
            <a:p>
              <a:pPr algn="l">
                <a:lnSpc>
                  <a:spcPts val="3242"/>
                </a:lnSpc>
              </a:pPr>
              <a:r>
                <a:rPr lang="en-US" sz="2702">
                  <a:solidFill>
                    <a:srgbClr val="FFFFFF"/>
                  </a:solidFill>
                  <a:latin typeface="Calibri (MS)"/>
                  <a:ea typeface="Calibri (MS)"/>
                  <a:cs typeface="Calibri (MS)"/>
                  <a:sym typeface="Calibri (MS)"/>
                </a:rPr>
                <a:t>• Automatic content generation.</a:t>
              </a:r>
            </a:p>
            <a:p>
              <a:pPr algn="l">
                <a:lnSpc>
                  <a:spcPts val="3242"/>
                </a:lnSpc>
              </a:pPr>
              <a:r>
                <a:rPr lang="en-US" sz="2702">
                  <a:solidFill>
                    <a:srgbClr val="FFFFFF"/>
                  </a:solidFill>
                  <a:latin typeface="Calibri (MS)"/>
                  <a:ea typeface="Calibri (MS)"/>
                  <a:cs typeface="Calibri (MS)"/>
                  <a:sym typeface="Calibri (MS)"/>
                </a:rPr>
                <a:t>• Notes and summary generation.</a:t>
              </a:r>
            </a:p>
            <a:p>
              <a:pPr algn="l">
                <a:lnSpc>
                  <a:spcPts val="3242"/>
                </a:lnSpc>
              </a:pPr>
              <a:r>
                <a:rPr lang="en-US" sz="2702">
                  <a:solidFill>
                    <a:srgbClr val="FFFFFF"/>
                  </a:solidFill>
                  <a:latin typeface="Calibri (MS)"/>
                  <a:ea typeface="Calibri (MS)"/>
                  <a:cs typeface="Calibri (MS)"/>
                  <a:sym typeface="Calibri (MS)"/>
                </a:rPr>
                <a:t>• Question answering.</a:t>
              </a:r>
            </a:p>
            <a:p>
              <a:pPr algn="l">
                <a:lnSpc>
                  <a:spcPts val="3242"/>
                </a:lnSpc>
              </a:pPr>
              <a:r>
                <a:rPr lang="en-US" sz="2702">
                  <a:solidFill>
                    <a:srgbClr val="FFFFFF"/>
                  </a:solidFill>
                  <a:latin typeface="Calibri (MS)"/>
                  <a:ea typeface="Calibri (MS)"/>
                  <a:cs typeface="Calibri (MS)"/>
                  <a:sym typeface="Calibri (MS)"/>
                </a:rPr>
                <a:t>• Project idea generation.</a:t>
              </a:r>
            </a:p>
            <a:p>
              <a:pPr algn="l">
                <a:lnSpc>
                  <a:spcPts val="3242"/>
                </a:lnSpc>
              </a:pPr>
              <a:r>
                <a:rPr lang="en-US" sz="2702">
                  <a:solidFill>
                    <a:srgbClr val="FFFFFF"/>
                  </a:solidFill>
                  <a:latin typeface="Calibri (MS)"/>
                  <a:ea typeface="Calibri (MS)"/>
                  <a:cs typeface="Calibri (MS)"/>
                  <a:sym typeface="Calibri (MS)"/>
                </a:rPr>
                <a:t>• Personalized learning support.</a:t>
              </a:r>
            </a:p>
            <a:p>
              <a:pPr algn="l">
                <a:lnSpc>
                  <a:spcPts val="3242"/>
                </a:lnSpc>
              </a:pPr>
              <a:r>
                <a:rPr lang="en-US" sz="2702">
                  <a:solidFill>
                    <a:srgbClr val="FFFFFF"/>
                  </a:solidFill>
                  <a:latin typeface="Calibri (MS)"/>
                  <a:ea typeface="Calibri (MS)"/>
                  <a:cs typeface="Calibri (MS)"/>
                  <a:sym typeface="Calibri (MS)"/>
                </a:rPr>
                <a:t>• Resume and content assistance.</a:t>
              </a:r>
            </a:p>
            <a:p>
              <a:pPr algn="l">
                <a:lnSpc>
                  <a:spcPts val="3242"/>
                </a:lnSpc>
              </a:pPr>
              <a:r>
                <a:rPr lang="en-US" sz="2702">
                  <a:solidFill>
                    <a:srgbClr val="FFFFFF"/>
                  </a:solidFill>
                  <a:latin typeface="Calibri (MS)"/>
                  <a:ea typeface="Calibri (MS)"/>
                  <a:cs typeface="Calibri (MS)"/>
                  <a:sym typeface="Calibri (MS)"/>
                </a:rPr>
                <a:t>• Fast generation of relevant responses.</a:t>
              </a:r>
            </a:p>
            <a:p>
              <a:pPr algn="l">
                <a:lnSpc>
                  <a:spcPts val="3242"/>
                </a:lnSpc>
              </a:pPr>
              <a:r>
                <a:rPr lang="en-US" sz="2702">
                  <a:solidFill>
                    <a:srgbClr val="FFFFFF"/>
                  </a:solidFill>
                  <a:latin typeface="Calibri (MS)"/>
                  <a:ea typeface="Calibri (MS)"/>
                  <a:cs typeface="Calibri (MS)"/>
                  <a:sym typeface="Calibri (MS)"/>
                </a:rPr>
                <a:t>• Easy-to-use conversational interface.</a:t>
              </a:r>
            </a:p>
            <a:p>
              <a:pPr algn="l">
                <a:lnSpc>
                  <a:spcPts val="3242"/>
                </a:lnSpc>
              </a:pPr>
            </a:p>
            <a:p>
              <a:pPr algn="l">
                <a:lnSpc>
                  <a:spcPts val="3242"/>
                </a:lnSpc>
              </a:pPr>
              <a:r>
                <a:rPr lang="en-US" sz="2702">
                  <a:solidFill>
                    <a:srgbClr val="FFFFFF"/>
                  </a:solidFill>
                  <a:latin typeface="Calibri (MS)"/>
                  <a:ea typeface="Calibri (MS)"/>
                  <a:cs typeface="Calibri (MS)"/>
                  <a:sym typeface="Calibri (MS)"/>
                </a:rPr>
                <a:t>These features demonstrate how Generative AI can create new content and support users in different academic and professional tasks.</a:t>
              </a:r>
            </a:p>
          </p:txBody>
        </p:sp>
      </p:grpSp>
      <p:sp>
        <p:nvSpPr>
          <p:cNvPr name="TextBox 6" id="6"/>
          <p:cNvSpPr txBox="true"/>
          <p:nvPr/>
        </p:nvSpPr>
        <p:spPr>
          <a:xfrm rot="0">
            <a:off x="1326842" y="2184844"/>
            <a:ext cx="15877384" cy="7240876"/>
          </a:xfrm>
          <a:prstGeom prst="rect">
            <a:avLst/>
          </a:prstGeom>
        </p:spPr>
        <p:txBody>
          <a:bodyPr anchor="t" rtlCol="false" tIns="0" lIns="0" bIns="0" rIns="0">
            <a:spAutoFit/>
          </a:bodyPr>
          <a:lstStyle/>
          <a:p>
            <a:pPr algn="l">
              <a:lnSpc>
                <a:spcPts val="3242"/>
              </a:lnSpc>
            </a:pPr>
            <a:r>
              <a:rPr lang="en-US" sz="2702">
                <a:solidFill>
                  <a:srgbClr val="282828"/>
                </a:solidFill>
                <a:latin typeface="Calibri (MS)"/>
                <a:ea typeface="Calibri (MS)"/>
                <a:cs typeface="Calibri (MS)"/>
                <a:sym typeface="Calibri (MS)"/>
              </a:rPr>
              <a:t>• Internship guidance based on student requirements.</a:t>
            </a:r>
          </a:p>
          <a:p>
            <a:pPr algn="l">
              <a:lnSpc>
                <a:spcPts val="3242"/>
              </a:lnSpc>
            </a:pPr>
            <a:r>
              <a:rPr lang="en-US" sz="2702">
                <a:solidFill>
                  <a:srgbClr val="282828"/>
                </a:solidFill>
                <a:latin typeface="Calibri (MS)"/>
                <a:ea typeface="Calibri (MS)"/>
                <a:cs typeface="Calibri (MS)"/>
                <a:sym typeface="Calibri (MS)"/>
              </a:rPr>
              <a:t>• Skill gap identification.</a:t>
            </a:r>
          </a:p>
          <a:p>
            <a:pPr algn="l">
              <a:lnSpc>
                <a:spcPts val="3242"/>
              </a:lnSpc>
            </a:pPr>
            <a:r>
              <a:rPr lang="en-US" sz="2702">
                <a:solidFill>
                  <a:srgbClr val="282828"/>
                </a:solidFill>
                <a:latin typeface="Calibri (MS)"/>
                <a:ea typeface="Calibri (MS)"/>
                <a:cs typeface="Calibri (MS)"/>
                <a:sym typeface="Calibri (MS)"/>
              </a:rPr>
              <a:t>• Personalized learning recommendations.</a:t>
            </a:r>
          </a:p>
          <a:p>
            <a:pPr algn="l">
              <a:lnSpc>
                <a:spcPts val="3242"/>
              </a:lnSpc>
            </a:pPr>
            <a:r>
              <a:rPr lang="en-US" sz="2702">
                <a:solidFill>
                  <a:srgbClr val="282828"/>
                </a:solidFill>
                <a:latin typeface="Calibri (MS)"/>
                <a:ea typeface="Calibri (MS)"/>
                <a:cs typeface="Calibri (MS)"/>
                <a:sym typeface="Calibri (MS)"/>
              </a:rPr>
              <a:t>• Resume and project guidance.</a:t>
            </a:r>
          </a:p>
          <a:p>
            <a:pPr algn="l">
              <a:lnSpc>
                <a:spcPts val="3242"/>
              </a:lnSpc>
            </a:pPr>
            <a:r>
              <a:rPr lang="en-US" sz="2702">
                <a:solidFill>
                  <a:srgbClr val="282828"/>
                </a:solidFill>
                <a:latin typeface="Calibri (MS)"/>
                <a:ea typeface="Calibri (MS)"/>
                <a:cs typeface="Calibri (MS)"/>
                <a:sym typeface="Calibri (MS)"/>
              </a:rPr>
              <a:t>• Career-oriented question answering.</a:t>
            </a:r>
          </a:p>
          <a:p>
            <a:pPr algn="l">
              <a:lnSpc>
                <a:spcPts val="3242"/>
              </a:lnSpc>
            </a:pPr>
            <a:r>
              <a:rPr lang="en-US" sz="2702">
                <a:solidFill>
                  <a:srgbClr val="282828"/>
                </a:solidFill>
                <a:latin typeface="Calibri (MS)"/>
                <a:ea typeface="Calibri (MS)"/>
                <a:cs typeface="Calibri (MS)"/>
                <a:sym typeface="Calibri (MS)"/>
              </a:rPr>
              <a:t>• Multi-step task planning.</a:t>
            </a:r>
          </a:p>
          <a:p>
            <a:pPr algn="l">
              <a:lnSpc>
                <a:spcPts val="3242"/>
              </a:lnSpc>
            </a:pPr>
            <a:r>
              <a:rPr lang="en-US" sz="2702">
                <a:solidFill>
                  <a:srgbClr val="282828"/>
                </a:solidFill>
                <a:latin typeface="Calibri (MS)"/>
                <a:ea typeface="Calibri (MS)"/>
                <a:cs typeface="Calibri (MS)"/>
                <a:sym typeface="Calibri (MS)"/>
              </a:rPr>
              <a:t>• Context and memory support.</a:t>
            </a:r>
          </a:p>
          <a:p>
            <a:pPr algn="l">
              <a:lnSpc>
                <a:spcPts val="3242"/>
              </a:lnSpc>
            </a:pPr>
            <a:r>
              <a:rPr lang="en-US" sz="2702">
                <a:solidFill>
                  <a:srgbClr val="282828"/>
                </a:solidFill>
                <a:latin typeface="Calibri (MS)"/>
                <a:ea typeface="Calibri (MS)"/>
                <a:cs typeface="Calibri (MS)"/>
                <a:sym typeface="Calibri (MS)"/>
              </a:rPr>
              <a:t>• Goal-based decision making.</a:t>
            </a:r>
          </a:p>
          <a:p>
            <a:pPr algn="l">
              <a:lnSpc>
                <a:spcPts val="3242"/>
              </a:lnSpc>
            </a:pPr>
            <a:r>
              <a:rPr lang="en-US" sz="2702">
                <a:solidFill>
                  <a:srgbClr val="282828"/>
                </a:solidFill>
                <a:latin typeface="Calibri (MS)"/>
                <a:ea typeface="Calibri (MS)"/>
                <a:cs typeface="Calibri (MS)"/>
                <a:sym typeface="Calibri (MS)"/>
              </a:rPr>
              <a:t>• Easy-to-use conversational interface.</a:t>
            </a:r>
          </a:p>
          <a:p>
            <a:pPr algn="l">
              <a:lnSpc>
                <a:spcPts val="3242"/>
              </a:lnSpc>
            </a:pPr>
          </a:p>
          <a:p>
            <a:pPr algn="l">
              <a:lnSpc>
                <a:spcPts val="3242"/>
              </a:lnSpc>
            </a:pPr>
            <a:r>
              <a:rPr lang="en-US" sz="2702">
                <a:solidFill>
                  <a:srgbClr val="282828"/>
                </a:solidFill>
                <a:latin typeface="Calibri (MS)"/>
                <a:ea typeface="Calibri (MS)"/>
                <a:cs typeface="Calibri (MS)"/>
                <a:sym typeface="Calibri (MS)"/>
              </a:rPr>
              <a:t>These features demonstrate the core concepts of Agentic AI such as reasoning, planning, memory, tool usage, and autonomous decision making.</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5F7FA"/>
        </a:solidFill>
      </p:bgPr>
    </p:bg>
    <p:spTree>
      <p:nvGrpSpPr>
        <p:cNvPr id="1" name=""/>
        <p:cNvGrpSpPr/>
        <p:nvPr/>
      </p:nvGrpSpPr>
      <p:grpSpPr>
        <a:xfrm>
          <a:off x="0" y="0"/>
          <a:ext cx="0" cy="0"/>
          <a:chOff x="0" y="0"/>
          <a:chExt cx="0" cy="0"/>
        </a:xfrm>
      </p:grpSpPr>
      <p:sp>
        <p:nvSpPr>
          <p:cNvPr name="TextBox 2" id="2"/>
          <p:cNvSpPr txBox="true"/>
          <p:nvPr/>
        </p:nvSpPr>
        <p:spPr>
          <a:xfrm rot="0">
            <a:off x="1052312" y="577701"/>
            <a:ext cx="16289188" cy="1092422"/>
          </a:xfrm>
          <a:prstGeom prst="rect">
            <a:avLst/>
          </a:prstGeom>
        </p:spPr>
        <p:txBody>
          <a:bodyPr anchor="t" rtlCol="false" tIns="0" lIns="0" bIns="0" rIns="0">
            <a:spAutoFit/>
          </a:bodyPr>
          <a:lstStyle/>
          <a:p>
            <a:pPr algn="l">
              <a:lnSpc>
                <a:spcPts val="5043"/>
              </a:lnSpc>
            </a:pPr>
            <a:r>
              <a:rPr lang="en-US" sz="4203" b="true">
                <a:solidFill>
                  <a:srgbClr val="000000"/>
                </a:solidFill>
                <a:latin typeface="Calibri (MS) Bold"/>
                <a:ea typeface="Calibri (MS) Bold"/>
                <a:cs typeface="Calibri (MS) Bold"/>
                <a:sym typeface="Calibri (MS) Bold"/>
              </a:rPr>
              <a:t>TECHNOLOGIES / TOOLS USED</a:t>
            </a:r>
          </a:p>
        </p:txBody>
      </p:sp>
      <p:grpSp>
        <p:nvGrpSpPr>
          <p:cNvPr name="Group 3" id="3"/>
          <p:cNvGrpSpPr/>
          <p:nvPr/>
        </p:nvGrpSpPr>
        <p:grpSpPr>
          <a:xfrm rot="0">
            <a:off x="960872" y="1784471"/>
            <a:ext cx="2745343" cy="109814"/>
            <a:chOff x="0" y="0"/>
            <a:chExt cx="3660458" cy="146418"/>
          </a:xfrm>
        </p:grpSpPr>
        <p:sp>
          <p:nvSpPr>
            <p:cNvPr name="Freeform 4" id="4"/>
            <p:cNvSpPr/>
            <p:nvPr/>
          </p:nvSpPr>
          <p:spPr>
            <a:xfrm flipH="false" flipV="false" rot="0">
              <a:off x="0" y="0"/>
              <a:ext cx="3660521" cy="146431"/>
            </a:xfrm>
            <a:custGeom>
              <a:avLst/>
              <a:gdLst/>
              <a:ahLst/>
              <a:cxnLst/>
              <a:rect r="r" b="b" t="t" l="l"/>
              <a:pathLst>
                <a:path h="146431" w="3660521">
                  <a:moveTo>
                    <a:pt x="0" y="0"/>
                  </a:moveTo>
                  <a:lnTo>
                    <a:pt x="3660521" y="0"/>
                  </a:lnTo>
                  <a:lnTo>
                    <a:pt x="3660521" y="146431"/>
                  </a:lnTo>
                  <a:lnTo>
                    <a:pt x="0" y="146431"/>
                  </a:lnTo>
                  <a:close/>
                </a:path>
              </a:pathLst>
            </a:custGeom>
            <a:solidFill>
              <a:srgbClr val="3278B4"/>
            </a:solidFill>
          </p:spPr>
        </p:sp>
        <p:sp>
          <p:nvSpPr>
            <p:cNvPr name="TextBox 5" id="5"/>
            <p:cNvSpPr txBox="true"/>
            <p:nvPr/>
          </p:nvSpPr>
          <p:spPr>
            <a:xfrm>
              <a:off x="0" y="-57150"/>
              <a:ext cx="3660458" cy="203568"/>
            </a:xfrm>
            <a:prstGeom prst="rect">
              <a:avLst/>
            </a:prstGeom>
          </p:spPr>
          <p:txBody>
            <a:bodyPr anchor="ctr" rtlCol="false" tIns="50800" lIns="50800" bIns="50800" rIns="50800"/>
            <a:lstStyle/>
            <a:p>
              <a:pPr algn="l">
                <a:lnSpc>
                  <a:spcPts val="3242"/>
                </a:lnSpc>
              </a:pPr>
              <a:r>
                <a:rPr lang="en-US" sz="2702">
                  <a:solidFill>
                    <a:srgbClr val="FFFFFF"/>
                  </a:solidFill>
                  <a:latin typeface="Calibri (MS)"/>
                  <a:ea typeface="Calibri (MS)"/>
                  <a:cs typeface="Calibri (MS)"/>
                  <a:sym typeface="Calibri (MS)"/>
                </a:rPr>
                <a:t>Technologies and Tools</a:t>
              </a:r>
            </a:p>
            <a:p>
              <a:pPr algn="l">
                <a:lnSpc>
                  <a:spcPts val="3242"/>
                </a:lnSpc>
              </a:pPr>
            </a:p>
            <a:p>
              <a:pPr algn="l">
                <a:lnSpc>
                  <a:spcPts val="3242"/>
                </a:lnSpc>
              </a:pPr>
              <a:r>
                <a:rPr lang="en-US" sz="2702">
                  <a:solidFill>
                    <a:srgbClr val="FFFFFF"/>
                  </a:solidFill>
                  <a:latin typeface="Calibri (MS)"/>
                  <a:ea typeface="Calibri (MS)"/>
                  <a:cs typeface="Calibri (MS)"/>
                  <a:sym typeface="Calibri (MS)"/>
                </a:rPr>
                <a:t>• Python – Core programming language.</a:t>
              </a:r>
            </a:p>
            <a:p>
              <a:pPr algn="l">
                <a:lnSpc>
                  <a:spcPts val="3242"/>
                </a:lnSpc>
              </a:pPr>
              <a:r>
                <a:rPr lang="en-US" sz="2702">
                  <a:solidFill>
                    <a:srgbClr val="FFFFFF"/>
                  </a:solidFill>
                  <a:latin typeface="Calibri (MS)"/>
                  <a:ea typeface="Calibri (MS)"/>
                  <a:cs typeface="Calibri (MS)"/>
                  <a:sym typeface="Calibri (MS)"/>
                </a:rPr>
                <a:t>• IBM watsonx / IBM AI technologies – Generative AI platform support.</a:t>
              </a:r>
            </a:p>
            <a:p>
              <a:pPr algn="l">
                <a:lnSpc>
                  <a:spcPts val="3242"/>
                </a:lnSpc>
              </a:pPr>
              <a:r>
                <a:rPr lang="en-US" sz="2702">
                  <a:solidFill>
                    <a:srgbClr val="FFFFFF"/>
                  </a:solidFill>
                  <a:latin typeface="Calibri (MS)"/>
                  <a:ea typeface="Calibri (MS)"/>
                  <a:cs typeface="Calibri (MS)"/>
                  <a:sym typeface="Calibri (MS)"/>
                </a:rPr>
                <a:t>• Large Language Models (LLMs) – Text understanding and generation.</a:t>
              </a:r>
            </a:p>
            <a:p>
              <a:pPr algn="l">
                <a:lnSpc>
                  <a:spcPts val="3242"/>
                </a:lnSpc>
              </a:pPr>
              <a:r>
                <a:rPr lang="en-US" sz="2702">
                  <a:solidFill>
                    <a:srgbClr val="FFFFFF"/>
                  </a:solidFill>
                  <a:latin typeface="Calibri (MS)"/>
                  <a:ea typeface="Calibri (MS)"/>
                  <a:cs typeface="Calibri (MS)"/>
                  <a:sym typeface="Calibri (MS)"/>
                </a:rPr>
                <a:t>• Generative AI APIs – AI model integration.</a:t>
              </a:r>
            </a:p>
            <a:p>
              <a:pPr algn="l">
                <a:lnSpc>
                  <a:spcPts val="3242"/>
                </a:lnSpc>
              </a:pPr>
              <a:r>
                <a:rPr lang="en-US" sz="2702">
                  <a:solidFill>
                    <a:srgbClr val="FFFFFF"/>
                  </a:solidFill>
                  <a:latin typeface="Calibri (MS)"/>
                  <a:ea typeface="Calibri (MS)"/>
                  <a:cs typeface="Calibri (MS)"/>
                  <a:sym typeface="Calibri (MS)"/>
                </a:rPr>
                <a:t>• HTML/CSS/Streamlit – User interface.</a:t>
              </a:r>
            </a:p>
            <a:p>
              <a:pPr algn="l">
                <a:lnSpc>
                  <a:spcPts val="3242"/>
                </a:lnSpc>
              </a:pPr>
              <a:r>
                <a:rPr lang="en-US" sz="2702">
                  <a:solidFill>
                    <a:srgbClr val="FFFFFF"/>
                  </a:solidFill>
                  <a:latin typeface="Calibri (MS)"/>
                  <a:ea typeface="Calibri (MS)"/>
                  <a:cs typeface="Calibri (MS)"/>
                  <a:sym typeface="Calibri (MS)"/>
                </a:rPr>
                <a:t>• JSON – Data exchange and structured information.</a:t>
              </a:r>
            </a:p>
            <a:p>
              <a:pPr algn="l">
                <a:lnSpc>
                  <a:spcPts val="3242"/>
                </a:lnSpc>
              </a:pPr>
              <a:r>
                <a:rPr lang="en-US" sz="2702">
                  <a:solidFill>
                    <a:srgbClr val="FFFFFF"/>
                  </a:solidFill>
                  <a:latin typeface="Calibri (MS)"/>
                  <a:ea typeface="Calibri (MS)"/>
                  <a:cs typeface="Calibri (MS)"/>
                  <a:sym typeface="Calibri (MS)"/>
                </a:rPr>
                <a:t>• GitHub – Version control and project documentation.</a:t>
              </a:r>
            </a:p>
            <a:p>
              <a:pPr algn="l">
                <a:lnSpc>
                  <a:spcPts val="3242"/>
                </a:lnSpc>
              </a:pPr>
            </a:p>
            <a:p>
              <a:pPr algn="l">
                <a:lnSpc>
                  <a:spcPts val="3242"/>
                </a:lnSpc>
              </a:pPr>
              <a:r>
                <a:rPr lang="en-US" sz="2702">
                  <a:solidFill>
                    <a:srgbClr val="FFFFFF"/>
                  </a:solidFill>
                  <a:latin typeface="Calibri (MS)"/>
                  <a:ea typeface="Calibri (MS)"/>
                  <a:cs typeface="Calibri (MS)"/>
                  <a:sym typeface="Calibri (MS)"/>
                </a:rPr>
                <a:t>The project architecture can be extended using databases, APIs, and additional AI models.</a:t>
              </a:r>
            </a:p>
          </p:txBody>
        </p:sp>
      </p:grpSp>
      <p:sp>
        <p:nvSpPr>
          <p:cNvPr name="TextBox 6" id="6"/>
          <p:cNvSpPr txBox="true"/>
          <p:nvPr/>
        </p:nvSpPr>
        <p:spPr>
          <a:xfrm rot="0">
            <a:off x="1326842" y="2184844"/>
            <a:ext cx="15877384" cy="7240876"/>
          </a:xfrm>
          <a:prstGeom prst="rect">
            <a:avLst/>
          </a:prstGeom>
        </p:spPr>
        <p:txBody>
          <a:bodyPr anchor="t" rtlCol="false" tIns="0" lIns="0" bIns="0" rIns="0">
            <a:spAutoFit/>
          </a:bodyPr>
          <a:lstStyle/>
          <a:p>
            <a:pPr algn="l">
              <a:lnSpc>
                <a:spcPts val="3242"/>
              </a:lnSpc>
            </a:pPr>
            <a:r>
              <a:rPr lang="en-US" sz="2702">
                <a:solidFill>
                  <a:srgbClr val="282828"/>
                </a:solidFill>
                <a:latin typeface="Calibri (MS)"/>
                <a:ea typeface="Calibri (MS)"/>
                <a:cs typeface="Calibri (MS)"/>
                <a:sym typeface="Calibri (MS)"/>
              </a:rPr>
              <a:t>Technologies and Tools</a:t>
            </a:r>
          </a:p>
          <a:p>
            <a:pPr algn="l">
              <a:lnSpc>
                <a:spcPts val="3242"/>
              </a:lnSpc>
            </a:pPr>
          </a:p>
          <a:p>
            <a:pPr algn="l">
              <a:lnSpc>
                <a:spcPts val="3242"/>
              </a:lnSpc>
            </a:pPr>
            <a:r>
              <a:rPr lang="en-US" sz="2702">
                <a:solidFill>
                  <a:srgbClr val="282828"/>
                </a:solidFill>
                <a:latin typeface="Calibri (MS)"/>
                <a:ea typeface="Calibri (MS)"/>
                <a:cs typeface="Calibri (MS)"/>
                <a:sym typeface="Calibri (MS)"/>
              </a:rPr>
              <a:t>• Python – Core programming language.</a:t>
            </a:r>
          </a:p>
          <a:p>
            <a:pPr algn="l">
              <a:lnSpc>
                <a:spcPts val="3242"/>
              </a:lnSpc>
            </a:pPr>
            <a:r>
              <a:rPr lang="en-US" sz="2702">
                <a:solidFill>
                  <a:srgbClr val="282828"/>
                </a:solidFill>
                <a:latin typeface="Calibri (MS)"/>
                <a:ea typeface="Calibri (MS)"/>
                <a:cs typeface="Calibri (MS)"/>
                <a:sym typeface="Calibri (MS)"/>
              </a:rPr>
              <a:t>• IBM watsonx / IBM AI technologies – AI platform support.</a:t>
            </a:r>
          </a:p>
          <a:p>
            <a:pPr algn="l">
              <a:lnSpc>
                <a:spcPts val="3242"/>
              </a:lnSpc>
            </a:pPr>
            <a:r>
              <a:rPr lang="en-US" sz="2702">
                <a:solidFill>
                  <a:srgbClr val="282828"/>
                </a:solidFill>
                <a:latin typeface="Calibri (MS)"/>
                <a:ea typeface="Calibri (MS)"/>
                <a:cs typeface="Calibri (MS)"/>
                <a:sym typeface="Calibri (MS)"/>
              </a:rPr>
              <a:t>• Large Language Model (LLM) – Natural language understanding and response generation.</a:t>
            </a:r>
          </a:p>
          <a:p>
            <a:pPr algn="l">
              <a:lnSpc>
                <a:spcPts val="3242"/>
              </a:lnSpc>
            </a:pPr>
            <a:r>
              <a:rPr lang="en-US" sz="2702">
                <a:solidFill>
                  <a:srgbClr val="282828"/>
                </a:solidFill>
                <a:latin typeface="Calibri (MS)"/>
                <a:ea typeface="Calibri (MS)"/>
                <a:cs typeface="Calibri (MS)"/>
                <a:sym typeface="Calibri (MS)"/>
              </a:rPr>
              <a:t>• Agentic AI Framework – Planning and agent workflow.</a:t>
            </a:r>
          </a:p>
          <a:p>
            <a:pPr algn="l">
              <a:lnSpc>
                <a:spcPts val="3242"/>
              </a:lnSpc>
            </a:pPr>
            <a:r>
              <a:rPr lang="en-US" sz="2702">
                <a:solidFill>
                  <a:srgbClr val="282828"/>
                </a:solidFill>
                <a:latin typeface="Calibri (MS)"/>
                <a:ea typeface="Calibri (MS)"/>
                <a:cs typeface="Calibri (MS)"/>
                <a:sym typeface="Calibri (MS)"/>
              </a:rPr>
              <a:t>• HTML/CSS/Streamlit – User interface.</a:t>
            </a:r>
          </a:p>
          <a:p>
            <a:pPr algn="l">
              <a:lnSpc>
                <a:spcPts val="3242"/>
              </a:lnSpc>
            </a:pPr>
            <a:r>
              <a:rPr lang="en-US" sz="2702">
                <a:solidFill>
                  <a:srgbClr val="282828"/>
                </a:solidFill>
                <a:latin typeface="Calibri (MS)"/>
                <a:ea typeface="Calibri (MS)"/>
                <a:cs typeface="Calibri (MS)"/>
                <a:sym typeface="Calibri (MS)"/>
              </a:rPr>
              <a:t>• JSON – Data exchange and structured information.</a:t>
            </a:r>
          </a:p>
          <a:p>
            <a:pPr algn="l">
              <a:lnSpc>
                <a:spcPts val="3242"/>
              </a:lnSpc>
            </a:pPr>
            <a:r>
              <a:rPr lang="en-US" sz="2702">
                <a:solidFill>
                  <a:srgbClr val="282828"/>
                </a:solidFill>
                <a:latin typeface="Calibri (MS)"/>
                <a:ea typeface="Calibri (MS)"/>
                <a:cs typeface="Calibri (MS)"/>
                <a:sym typeface="Calibri (MS)"/>
              </a:rPr>
              <a:t>• GitHub – Version control and project documentation.</a:t>
            </a:r>
          </a:p>
          <a:p>
            <a:pPr algn="l">
              <a:lnSpc>
                <a:spcPts val="3242"/>
              </a:lnSpc>
            </a:pPr>
          </a:p>
          <a:p>
            <a:pPr algn="l">
              <a:lnSpc>
                <a:spcPts val="3242"/>
              </a:lnSpc>
            </a:pPr>
            <a:r>
              <a:rPr lang="en-US" sz="2702">
                <a:solidFill>
                  <a:srgbClr val="282828"/>
                </a:solidFill>
                <a:latin typeface="Calibri (MS)"/>
                <a:ea typeface="Calibri (MS)"/>
                <a:cs typeface="Calibri (MS)"/>
                <a:sym typeface="Calibri (MS)"/>
              </a:rPr>
              <a:t>The architecture can be extended by integrating APIs, databases, and external tools.</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5F7FA"/>
        </a:solidFill>
      </p:bgPr>
    </p:bg>
    <p:spTree>
      <p:nvGrpSpPr>
        <p:cNvPr id="1" name=""/>
        <p:cNvGrpSpPr/>
        <p:nvPr/>
      </p:nvGrpSpPr>
      <p:grpSpPr>
        <a:xfrm>
          <a:off x="0" y="0"/>
          <a:ext cx="0" cy="0"/>
          <a:chOff x="0" y="0"/>
          <a:chExt cx="0" cy="0"/>
        </a:xfrm>
      </p:grpSpPr>
      <p:sp>
        <p:nvSpPr>
          <p:cNvPr name="TextBox 2" id="2"/>
          <p:cNvSpPr txBox="true"/>
          <p:nvPr/>
        </p:nvSpPr>
        <p:spPr>
          <a:xfrm rot="0">
            <a:off x="1052312" y="577701"/>
            <a:ext cx="16289188" cy="1092422"/>
          </a:xfrm>
          <a:prstGeom prst="rect">
            <a:avLst/>
          </a:prstGeom>
        </p:spPr>
        <p:txBody>
          <a:bodyPr anchor="t" rtlCol="false" tIns="0" lIns="0" bIns="0" rIns="0">
            <a:spAutoFit/>
          </a:bodyPr>
          <a:lstStyle/>
          <a:p>
            <a:pPr algn="l">
              <a:lnSpc>
                <a:spcPts val="5043"/>
              </a:lnSpc>
            </a:pPr>
            <a:r>
              <a:rPr lang="en-US" sz="4203" b="true">
                <a:solidFill>
                  <a:srgbClr val="000000"/>
                </a:solidFill>
                <a:latin typeface="Calibri (MS) Bold"/>
                <a:ea typeface="Calibri (MS) Bold"/>
                <a:cs typeface="Calibri (MS) Bold"/>
                <a:sym typeface="Calibri (MS) Bold"/>
              </a:rPr>
              <a:t>WORKING PROCESS / IMPLEMENTATION</a:t>
            </a:r>
          </a:p>
        </p:txBody>
      </p:sp>
      <p:grpSp>
        <p:nvGrpSpPr>
          <p:cNvPr name="Group 3" id="3"/>
          <p:cNvGrpSpPr/>
          <p:nvPr/>
        </p:nvGrpSpPr>
        <p:grpSpPr>
          <a:xfrm rot="0">
            <a:off x="960872" y="1784471"/>
            <a:ext cx="2745343" cy="109814"/>
            <a:chOff x="0" y="0"/>
            <a:chExt cx="3660458" cy="146418"/>
          </a:xfrm>
        </p:grpSpPr>
        <p:sp>
          <p:nvSpPr>
            <p:cNvPr name="Freeform 4" id="4"/>
            <p:cNvSpPr/>
            <p:nvPr/>
          </p:nvSpPr>
          <p:spPr>
            <a:xfrm flipH="false" flipV="false" rot="0">
              <a:off x="0" y="0"/>
              <a:ext cx="3660521" cy="146431"/>
            </a:xfrm>
            <a:custGeom>
              <a:avLst/>
              <a:gdLst/>
              <a:ahLst/>
              <a:cxnLst/>
              <a:rect r="r" b="b" t="t" l="l"/>
              <a:pathLst>
                <a:path h="146431" w="3660521">
                  <a:moveTo>
                    <a:pt x="0" y="0"/>
                  </a:moveTo>
                  <a:lnTo>
                    <a:pt x="3660521" y="0"/>
                  </a:lnTo>
                  <a:lnTo>
                    <a:pt x="3660521" y="146431"/>
                  </a:lnTo>
                  <a:lnTo>
                    <a:pt x="0" y="146431"/>
                  </a:lnTo>
                  <a:close/>
                </a:path>
              </a:pathLst>
            </a:custGeom>
            <a:solidFill>
              <a:srgbClr val="3278B4"/>
            </a:solidFill>
          </p:spPr>
        </p:sp>
        <p:sp>
          <p:nvSpPr>
            <p:cNvPr name="TextBox 5" id="5"/>
            <p:cNvSpPr txBox="true"/>
            <p:nvPr/>
          </p:nvSpPr>
          <p:spPr>
            <a:xfrm>
              <a:off x="0" y="-57150"/>
              <a:ext cx="3660458" cy="203568"/>
            </a:xfrm>
            <a:prstGeom prst="rect">
              <a:avLst/>
            </a:prstGeom>
          </p:spPr>
          <p:txBody>
            <a:bodyPr anchor="ctr" rtlCol="false" tIns="50800" lIns="50800" bIns="50800" rIns="50800"/>
            <a:lstStyle/>
            <a:p>
              <a:pPr algn="l">
                <a:lnSpc>
                  <a:spcPts val="3242"/>
                </a:lnSpc>
              </a:pPr>
              <a:r>
                <a:rPr lang="en-US" sz="2702">
                  <a:solidFill>
                    <a:srgbClr val="FFFFFF"/>
                  </a:solidFill>
                  <a:latin typeface="Calibri (MS)"/>
                  <a:ea typeface="Calibri (MS)"/>
                  <a:cs typeface="Calibri (MS)"/>
                  <a:sym typeface="Calibri (MS)"/>
                </a:rPr>
                <a:t>Step 1: Receive User Prompt</a:t>
              </a:r>
            </a:p>
            <a:p>
              <a:pPr algn="l">
                <a:lnSpc>
                  <a:spcPts val="3242"/>
                </a:lnSpc>
              </a:pPr>
              <a:r>
                <a:rPr lang="en-US" sz="2702">
                  <a:solidFill>
                    <a:srgbClr val="FFFFFF"/>
                  </a:solidFill>
                  <a:latin typeface="Calibri (MS)"/>
                  <a:ea typeface="Calibri (MS)"/>
                  <a:cs typeface="Calibri (MS)"/>
                  <a:sym typeface="Calibri (MS)"/>
                </a:rPr>
                <a:t>The system receives a topic, question, or instruction from the user.</a:t>
              </a:r>
            </a:p>
            <a:p>
              <a:pPr algn="l">
                <a:lnSpc>
                  <a:spcPts val="3242"/>
                </a:lnSpc>
              </a:pPr>
            </a:p>
            <a:p>
              <a:pPr algn="l">
                <a:lnSpc>
                  <a:spcPts val="3242"/>
                </a:lnSpc>
              </a:pPr>
              <a:r>
                <a:rPr lang="en-US" sz="2702">
                  <a:solidFill>
                    <a:srgbClr val="FFFFFF"/>
                  </a:solidFill>
                  <a:latin typeface="Calibri (MS)"/>
                  <a:ea typeface="Calibri (MS)"/>
                  <a:cs typeface="Calibri (MS)"/>
                  <a:sym typeface="Calibri (MS)"/>
                </a:rPr>
                <a:t>Step 2: Process the Prompt</a:t>
              </a:r>
            </a:p>
            <a:p>
              <a:pPr algn="l">
                <a:lnSpc>
                  <a:spcPts val="3242"/>
                </a:lnSpc>
              </a:pPr>
              <a:r>
                <a:rPr lang="en-US" sz="2702">
                  <a:solidFill>
                    <a:srgbClr val="FFFFFF"/>
                  </a:solidFill>
                  <a:latin typeface="Calibri (MS)"/>
                  <a:ea typeface="Calibri (MS)"/>
                  <a:cs typeface="Calibri (MS)"/>
                  <a:sym typeface="Calibri (MS)"/>
                </a:rPr>
                <a:t>The Generative AI model analyzes the meaning of the request.</a:t>
              </a:r>
            </a:p>
            <a:p>
              <a:pPr algn="l">
                <a:lnSpc>
                  <a:spcPts val="3242"/>
                </a:lnSpc>
              </a:pPr>
            </a:p>
            <a:p>
              <a:pPr algn="l">
                <a:lnSpc>
                  <a:spcPts val="3242"/>
                </a:lnSpc>
              </a:pPr>
              <a:r>
                <a:rPr lang="en-US" sz="2702">
                  <a:solidFill>
                    <a:srgbClr val="FFFFFF"/>
                  </a:solidFill>
                  <a:latin typeface="Calibri (MS)"/>
                  <a:ea typeface="Calibri (MS)"/>
                  <a:cs typeface="Calibri (MS)"/>
                  <a:sym typeface="Calibri (MS)"/>
                </a:rPr>
                <a:t>Step 3: Understand Context</a:t>
              </a:r>
            </a:p>
            <a:p>
              <a:pPr algn="l">
                <a:lnSpc>
                  <a:spcPts val="3242"/>
                </a:lnSpc>
              </a:pPr>
              <a:r>
                <a:rPr lang="en-US" sz="2702">
                  <a:solidFill>
                    <a:srgbClr val="FFFFFF"/>
                  </a:solidFill>
                  <a:latin typeface="Calibri (MS)"/>
                  <a:ea typeface="Calibri (MS)"/>
                  <a:cs typeface="Calibri (MS)"/>
                  <a:sym typeface="Calibri (MS)"/>
                </a:rPr>
                <a:t>The system identifies the expected type of output.</a:t>
              </a:r>
            </a:p>
            <a:p>
              <a:pPr algn="l">
                <a:lnSpc>
                  <a:spcPts val="3242"/>
                </a:lnSpc>
              </a:pPr>
            </a:p>
            <a:p>
              <a:pPr algn="l">
                <a:lnSpc>
                  <a:spcPts val="3242"/>
                </a:lnSpc>
              </a:pPr>
              <a:r>
                <a:rPr lang="en-US" sz="2702">
                  <a:solidFill>
                    <a:srgbClr val="FFFFFF"/>
                  </a:solidFill>
                  <a:latin typeface="Calibri (MS)"/>
                  <a:ea typeface="Calibri (MS)"/>
                  <a:cs typeface="Calibri (MS)"/>
                  <a:sym typeface="Calibri (MS)"/>
                </a:rPr>
                <a:t>Step 4: Generate Content</a:t>
              </a:r>
            </a:p>
            <a:p>
              <a:pPr algn="l">
                <a:lnSpc>
                  <a:spcPts val="3242"/>
                </a:lnSpc>
              </a:pPr>
              <a:r>
                <a:rPr lang="en-US" sz="2702">
                  <a:solidFill>
                    <a:srgbClr val="FFFFFF"/>
                  </a:solidFill>
                  <a:latin typeface="Calibri (MS)"/>
                  <a:ea typeface="Calibri (MS)"/>
                  <a:cs typeface="Calibri (MS)"/>
                  <a:sym typeface="Calibri (MS)"/>
                </a:rPr>
                <a:t>The AI model creates relevant text or recommendations.</a:t>
              </a:r>
            </a:p>
            <a:p>
              <a:pPr algn="l">
                <a:lnSpc>
                  <a:spcPts val="3242"/>
                </a:lnSpc>
              </a:pPr>
            </a:p>
            <a:p>
              <a:pPr algn="l">
                <a:lnSpc>
                  <a:spcPts val="3242"/>
                </a:lnSpc>
              </a:pPr>
              <a:r>
                <a:rPr lang="en-US" sz="2702">
                  <a:solidFill>
                    <a:srgbClr val="FFFFFF"/>
                  </a:solidFill>
                  <a:latin typeface="Calibri (MS)"/>
                  <a:ea typeface="Calibri (MS)"/>
                  <a:cs typeface="Calibri (MS)"/>
                  <a:sym typeface="Calibri (MS)"/>
                </a:rPr>
                <a:t>Step 5: Organize the Output</a:t>
              </a:r>
            </a:p>
            <a:p>
              <a:pPr algn="l">
                <a:lnSpc>
                  <a:spcPts val="3242"/>
                </a:lnSpc>
              </a:pPr>
              <a:r>
                <a:rPr lang="en-US" sz="2702">
                  <a:solidFill>
                    <a:srgbClr val="FFFFFF"/>
                  </a:solidFill>
                  <a:latin typeface="Calibri (MS)"/>
                  <a:ea typeface="Calibri (MS)"/>
                  <a:cs typeface="Calibri (MS)"/>
                  <a:sym typeface="Calibri (MS)"/>
                </a:rPr>
                <a:t>The generated content is formatted clearly.</a:t>
              </a:r>
            </a:p>
            <a:p>
              <a:pPr algn="l">
                <a:lnSpc>
                  <a:spcPts val="3242"/>
                </a:lnSpc>
              </a:pPr>
            </a:p>
            <a:p>
              <a:pPr algn="l">
                <a:lnSpc>
                  <a:spcPts val="3242"/>
                </a:lnSpc>
              </a:pPr>
              <a:r>
                <a:rPr lang="en-US" sz="2702">
                  <a:solidFill>
                    <a:srgbClr val="FFFFFF"/>
                  </a:solidFill>
                  <a:latin typeface="Calibri (MS)"/>
                  <a:ea typeface="Calibri (MS)"/>
                  <a:cs typeface="Calibri (MS)"/>
                  <a:sym typeface="Calibri (MS)"/>
                </a:rPr>
                <a:t>Step 6: Display Result</a:t>
              </a:r>
            </a:p>
            <a:p>
              <a:pPr algn="l">
                <a:lnSpc>
                  <a:spcPts val="3242"/>
                </a:lnSpc>
              </a:pPr>
              <a:r>
                <a:rPr lang="en-US" sz="2702">
                  <a:solidFill>
                    <a:srgbClr val="FFFFFF"/>
                  </a:solidFill>
                  <a:latin typeface="Calibri (MS)"/>
                  <a:ea typeface="Calibri (MS)"/>
                  <a:cs typeface="Calibri (MS)"/>
                  <a:sym typeface="Calibri (MS)"/>
                </a:rPr>
                <a:t>The final response is presented to the user.</a:t>
              </a:r>
            </a:p>
          </p:txBody>
        </p:sp>
      </p:grpSp>
      <p:sp>
        <p:nvSpPr>
          <p:cNvPr name="TextBox 6" id="6"/>
          <p:cNvSpPr txBox="true"/>
          <p:nvPr/>
        </p:nvSpPr>
        <p:spPr>
          <a:xfrm rot="0">
            <a:off x="1904851" y="2438958"/>
            <a:ext cx="13713119" cy="6261654"/>
          </a:xfrm>
          <a:prstGeom prst="rect">
            <a:avLst/>
          </a:prstGeom>
        </p:spPr>
        <p:txBody>
          <a:bodyPr anchor="t" rtlCol="false" tIns="0" lIns="0" bIns="0" rIns="0">
            <a:spAutoFit/>
          </a:bodyPr>
          <a:lstStyle/>
          <a:p>
            <a:pPr algn="l">
              <a:lnSpc>
                <a:spcPts val="2800"/>
              </a:lnSpc>
            </a:pPr>
            <a:r>
              <a:rPr lang="en-US" sz="2333">
                <a:solidFill>
                  <a:srgbClr val="282828"/>
                </a:solidFill>
                <a:latin typeface="Calibri (MS)"/>
                <a:ea typeface="Calibri (MS)"/>
                <a:cs typeface="Calibri (MS)"/>
                <a:sym typeface="Calibri (MS)"/>
              </a:rPr>
              <a:t>Step 1: Collect User Requirements</a:t>
            </a:r>
          </a:p>
          <a:p>
            <a:pPr algn="l">
              <a:lnSpc>
                <a:spcPts val="2800"/>
              </a:lnSpc>
            </a:pPr>
            <a:r>
              <a:rPr lang="en-US" sz="2333">
                <a:solidFill>
                  <a:srgbClr val="282828"/>
                </a:solidFill>
                <a:latin typeface="Calibri (MS)"/>
                <a:ea typeface="Calibri (MS)"/>
                <a:cs typeface="Calibri (MS)"/>
                <a:sym typeface="Calibri (MS)"/>
              </a:rPr>
              <a:t>The system receives information such as student interests, skills, and career goals.</a:t>
            </a:r>
          </a:p>
          <a:p>
            <a:pPr algn="l">
              <a:lnSpc>
                <a:spcPts val="2800"/>
              </a:lnSpc>
            </a:pPr>
          </a:p>
          <a:p>
            <a:pPr algn="l">
              <a:lnSpc>
                <a:spcPts val="2800"/>
              </a:lnSpc>
            </a:pPr>
            <a:r>
              <a:rPr lang="en-US" sz="2333">
                <a:solidFill>
                  <a:srgbClr val="282828"/>
                </a:solidFill>
                <a:latin typeface="Calibri (MS)"/>
                <a:ea typeface="Calibri (MS)"/>
                <a:cs typeface="Calibri (MS)"/>
                <a:sym typeface="Calibri (MS)"/>
              </a:rPr>
              <a:t>Step 2: Analyze the Request</a:t>
            </a:r>
          </a:p>
          <a:p>
            <a:pPr algn="l">
              <a:lnSpc>
                <a:spcPts val="2800"/>
              </a:lnSpc>
            </a:pPr>
            <a:r>
              <a:rPr lang="en-US" sz="2333">
                <a:solidFill>
                  <a:srgbClr val="282828"/>
                </a:solidFill>
                <a:latin typeface="Calibri (MS)"/>
                <a:ea typeface="Calibri (MS)"/>
                <a:cs typeface="Calibri (MS)"/>
                <a:sym typeface="Calibri (MS)"/>
              </a:rPr>
              <a:t>The AI agent identifies the main objective.</a:t>
            </a:r>
          </a:p>
          <a:p>
            <a:pPr algn="l">
              <a:lnSpc>
                <a:spcPts val="2800"/>
              </a:lnSpc>
            </a:pPr>
          </a:p>
          <a:p>
            <a:pPr algn="l">
              <a:lnSpc>
                <a:spcPts val="2800"/>
              </a:lnSpc>
            </a:pPr>
            <a:r>
              <a:rPr lang="en-US" sz="2333">
                <a:solidFill>
                  <a:srgbClr val="282828"/>
                </a:solidFill>
                <a:latin typeface="Calibri (MS)"/>
                <a:ea typeface="Calibri (MS)"/>
                <a:cs typeface="Calibri (MS)"/>
                <a:sym typeface="Calibri (MS)"/>
              </a:rPr>
              <a:t>Step 3: Create a Plan</a:t>
            </a:r>
          </a:p>
          <a:p>
            <a:pPr algn="l">
              <a:lnSpc>
                <a:spcPts val="2800"/>
              </a:lnSpc>
            </a:pPr>
            <a:r>
              <a:rPr lang="en-US" sz="2333">
                <a:solidFill>
                  <a:srgbClr val="282828"/>
                </a:solidFill>
                <a:latin typeface="Calibri (MS)"/>
                <a:ea typeface="Calibri (MS)"/>
                <a:cs typeface="Calibri (MS)"/>
                <a:sym typeface="Calibri (MS)"/>
              </a:rPr>
              <a:t>The task is divided into smaller actions.</a:t>
            </a:r>
          </a:p>
          <a:p>
            <a:pPr algn="l">
              <a:lnSpc>
                <a:spcPts val="2800"/>
              </a:lnSpc>
            </a:pPr>
          </a:p>
          <a:p>
            <a:pPr algn="l">
              <a:lnSpc>
                <a:spcPts val="2800"/>
              </a:lnSpc>
            </a:pPr>
            <a:r>
              <a:rPr lang="en-US" sz="2333">
                <a:solidFill>
                  <a:srgbClr val="282828"/>
                </a:solidFill>
                <a:latin typeface="Calibri (MS)"/>
                <a:ea typeface="Calibri (MS)"/>
                <a:cs typeface="Calibri (MS)"/>
                <a:sym typeface="Calibri (MS)"/>
              </a:rPr>
              <a:t>Step 4: Process Information</a:t>
            </a:r>
          </a:p>
          <a:p>
            <a:pPr algn="l">
              <a:lnSpc>
                <a:spcPts val="2800"/>
              </a:lnSpc>
            </a:pPr>
            <a:r>
              <a:rPr lang="en-US" sz="2333">
                <a:solidFill>
                  <a:srgbClr val="282828"/>
                </a:solidFill>
                <a:latin typeface="Calibri (MS)"/>
                <a:ea typeface="Calibri (MS)"/>
                <a:cs typeface="Calibri (MS)"/>
                <a:sym typeface="Calibri (MS)"/>
              </a:rPr>
              <a:t>The agent uses available knowledge and tools.</a:t>
            </a:r>
          </a:p>
          <a:p>
            <a:pPr algn="l">
              <a:lnSpc>
                <a:spcPts val="2800"/>
              </a:lnSpc>
            </a:pPr>
          </a:p>
          <a:p>
            <a:pPr algn="l">
              <a:lnSpc>
                <a:spcPts val="2800"/>
              </a:lnSpc>
            </a:pPr>
            <a:r>
              <a:rPr lang="en-US" sz="2333">
                <a:solidFill>
                  <a:srgbClr val="282828"/>
                </a:solidFill>
                <a:latin typeface="Calibri (MS)"/>
                <a:ea typeface="Calibri (MS)"/>
                <a:cs typeface="Calibri (MS)"/>
                <a:sym typeface="Calibri (MS)"/>
              </a:rPr>
              <a:t>Step 5: Generate Recommendations</a:t>
            </a:r>
          </a:p>
          <a:p>
            <a:pPr algn="l">
              <a:lnSpc>
                <a:spcPts val="2800"/>
              </a:lnSpc>
            </a:pPr>
            <a:r>
              <a:rPr lang="en-US" sz="2333">
                <a:solidFill>
                  <a:srgbClr val="282828"/>
                </a:solidFill>
                <a:latin typeface="Calibri (MS)"/>
                <a:ea typeface="Calibri (MS)"/>
                <a:cs typeface="Calibri (MS)"/>
                <a:sym typeface="Calibri (MS)"/>
              </a:rPr>
              <a:t>Suitable internships, skills, learning activities, or resume suggestions are prepared.</a:t>
            </a:r>
          </a:p>
          <a:p>
            <a:pPr algn="l">
              <a:lnSpc>
                <a:spcPts val="2800"/>
              </a:lnSpc>
            </a:pPr>
          </a:p>
          <a:p>
            <a:pPr algn="l">
              <a:lnSpc>
                <a:spcPts val="2800"/>
              </a:lnSpc>
            </a:pPr>
            <a:r>
              <a:rPr lang="en-US" sz="2333">
                <a:solidFill>
                  <a:srgbClr val="282828"/>
                </a:solidFill>
                <a:latin typeface="Calibri (MS)"/>
                <a:ea typeface="Calibri (MS)"/>
                <a:cs typeface="Calibri (MS)"/>
                <a:sym typeface="Calibri (MS)"/>
              </a:rPr>
              <a:t>Step 6: Evaluate the Output</a:t>
            </a:r>
          </a:p>
          <a:p>
            <a:pPr algn="l">
              <a:lnSpc>
                <a:spcPts val="2800"/>
              </a:lnSpc>
            </a:pPr>
            <a:r>
              <a:rPr lang="en-US" sz="2333">
                <a:solidFill>
                  <a:srgbClr val="282828"/>
                </a:solidFill>
                <a:latin typeface="Calibri (MS)"/>
                <a:ea typeface="Calibri (MS)"/>
                <a:cs typeface="Calibri (MS)"/>
                <a:sym typeface="Calibri (MS)"/>
              </a:rPr>
              <a:t>The response is checked for relevance and completeness.</a:t>
            </a:r>
          </a:p>
          <a:p>
            <a:pPr algn="l">
              <a:lnSpc>
                <a:spcPts val="2800"/>
              </a:lnSpc>
            </a:pPr>
          </a:p>
          <a:p>
            <a:pPr algn="l">
              <a:lnSpc>
                <a:spcPts val="2800"/>
              </a:lnSpc>
            </a:pPr>
            <a:r>
              <a:rPr lang="en-US" sz="2333">
                <a:solidFill>
                  <a:srgbClr val="282828"/>
                </a:solidFill>
                <a:latin typeface="Calibri (MS)"/>
                <a:ea typeface="Calibri (MS)"/>
                <a:cs typeface="Calibri (MS)"/>
                <a:sym typeface="Calibri (MS)"/>
              </a:rPr>
              <a:t>Step 7: Display the Result</a:t>
            </a:r>
          </a:p>
          <a:p>
            <a:pPr algn="l">
              <a:lnSpc>
                <a:spcPts val="2800"/>
              </a:lnSpc>
            </a:pPr>
            <a:r>
              <a:rPr lang="en-US" sz="2333">
                <a:solidFill>
                  <a:srgbClr val="282828"/>
                </a:solidFill>
                <a:latin typeface="Calibri (MS)"/>
                <a:ea typeface="Calibri (MS)"/>
                <a:cs typeface="Calibri (MS)"/>
                <a:sym typeface="Calibri (MS)"/>
              </a:rPr>
              <a:t>The final personalized guidance is presented to the user.</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5F7FA"/>
        </a:solidFill>
      </p:bgPr>
    </p:bg>
    <p:spTree>
      <p:nvGrpSpPr>
        <p:cNvPr id="1" name=""/>
        <p:cNvGrpSpPr/>
        <p:nvPr/>
      </p:nvGrpSpPr>
      <p:grpSpPr>
        <a:xfrm>
          <a:off x="0" y="0"/>
          <a:ext cx="0" cy="0"/>
          <a:chOff x="0" y="0"/>
          <a:chExt cx="0" cy="0"/>
        </a:xfrm>
      </p:grpSpPr>
      <p:sp>
        <p:nvSpPr>
          <p:cNvPr name="TextBox 2" id="2"/>
          <p:cNvSpPr txBox="true"/>
          <p:nvPr/>
        </p:nvSpPr>
        <p:spPr>
          <a:xfrm rot="0">
            <a:off x="1052312" y="577701"/>
            <a:ext cx="16289188" cy="1092422"/>
          </a:xfrm>
          <a:prstGeom prst="rect">
            <a:avLst/>
          </a:prstGeom>
        </p:spPr>
        <p:txBody>
          <a:bodyPr anchor="t" rtlCol="false" tIns="0" lIns="0" bIns="0" rIns="0">
            <a:spAutoFit/>
          </a:bodyPr>
          <a:lstStyle/>
          <a:p>
            <a:pPr algn="l">
              <a:lnSpc>
                <a:spcPts val="5043"/>
              </a:lnSpc>
            </a:pPr>
            <a:r>
              <a:rPr lang="en-US" sz="4203" b="true">
                <a:solidFill>
                  <a:srgbClr val="000000"/>
                </a:solidFill>
                <a:latin typeface="Calibri (MS) Bold"/>
                <a:ea typeface="Calibri (MS) Bold"/>
                <a:cs typeface="Calibri (MS) Bold"/>
                <a:sym typeface="Calibri (MS) Bold"/>
              </a:rPr>
              <a:t>SYSTEM ARCHITECTURE</a:t>
            </a:r>
          </a:p>
        </p:txBody>
      </p:sp>
      <p:grpSp>
        <p:nvGrpSpPr>
          <p:cNvPr name="Group 3" id="3"/>
          <p:cNvGrpSpPr/>
          <p:nvPr/>
        </p:nvGrpSpPr>
        <p:grpSpPr>
          <a:xfrm rot="0">
            <a:off x="960872" y="1784471"/>
            <a:ext cx="2745343" cy="109814"/>
            <a:chOff x="0" y="0"/>
            <a:chExt cx="3660458" cy="146418"/>
          </a:xfrm>
        </p:grpSpPr>
        <p:sp>
          <p:nvSpPr>
            <p:cNvPr name="Freeform 4" id="4"/>
            <p:cNvSpPr/>
            <p:nvPr/>
          </p:nvSpPr>
          <p:spPr>
            <a:xfrm flipH="false" flipV="false" rot="0">
              <a:off x="0" y="0"/>
              <a:ext cx="3660521" cy="146431"/>
            </a:xfrm>
            <a:custGeom>
              <a:avLst/>
              <a:gdLst/>
              <a:ahLst/>
              <a:cxnLst/>
              <a:rect r="r" b="b" t="t" l="l"/>
              <a:pathLst>
                <a:path h="146431" w="3660521">
                  <a:moveTo>
                    <a:pt x="0" y="0"/>
                  </a:moveTo>
                  <a:lnTo>
                    <a:pt x="3660521" y="0"/>
                  </a:lnTo>
                  <a:lnTo>
                    <a:pt x="3660521" y="146431"/>
                  </a:lnTo>
                  <a:lnTo>
                    <a:pt x="0" y="146431"/>
                  </a:lnTo>
                  <a:close/>
                </a:path>
              </a:pathLst>
            </a:custGeom>
            <a:solidFill>
              <a:srgbClr val="3278B4"/>
            </a:solidFill>
          </p:spPr>
        </p:sp>
        <p:sp>
          <p:nvSpPr>
            <p:cNvPr name="TextBox 5" id="5"/>
            <p:cNvSpPr txBox="true"/>
            <p:nvPr/>
          </p:nvSpPr>
          <p:spPr>
            <a:xfrm>
              <a:off x="0" y="-57150"/>
              <a:ext cx="3660458" cy="203568"/>
            </a:xfrm>
            <a:prstGeom prst="rect">
              <a:avLst/>
            </a:prstGeom>
          </p:spPr>
          <p:txBody>
            <a:bodyPr anchor="ctr" rtlCol="false" tIns="50800" lIns="50800" bIns="50800" rIns="50800"/>
            <a:lstStyle/>
            <a:p>
              <a:pPr algn="l">
                <a:lnSpc>
                  <a:spcPts val="3242"/>
                </a:lnSpc>
              </a:pPr>
              <a:r>
                <a:rPr lang="en-US" sz="2702">
                  <a:solidFill>
                    <a:srgbClr val="FFFFFF"/>
                  </a:solidFill>
                  <a:latin typeface="Calibri (MS)"/>
                  <a:ea typeface="Calibri (MS)"/>
                  <a:cs typeface="Calibri (MS)"/>
                  <a:sym typeface="Calibri (MS)"/>
                </a:rPr>
                <a:t>                    ┌───────────────┐</a:t>
              </a:r>
            </a:p>
            <a:p>
              <a:pPr algn="l">
                <a:lnSpc>
                  <a:spcPts val="3242"/>
                </a:lnSpc>
              </a:pPr>
              <a:r>
                <a:rPr lang="en-US" sz="2702">
                  <a:solidFill>
                    <a:srgbClr val="FFFFFF"/>
                  </a:solidFill>
                  <a:latin typeface="Calibri (MS)"/>
                  <a:ea typeface="Calibri (MS)"/>
                  <a:cs typeface="Calibri (MS)"/>
                  <a:sym typeface="Calibri (MS)"/>
                </a:rPr>
                <a:t>                    │     USER      │</a:t>
              </a:r>
            </a:p>
            <a:p>
              <a:pPr algn="l">
                <a:lnSpc>
                  <a:spcPts val="3242"/>
                </a:lnSpc>
              </a:pPr>
              <a:r>
                <a:rPr lang="en-US" sz="2702">
                  <a:solidFill>
                    <a:srgbClr val="FFFFFF"/>
                  </a:solidFill>
                  <a:latin typeface="Calibri (MS)"/>
                  <a:ea typeface="Calibri (MS)"/>
                  <a:cs typeface="Calibri (MS)"/>
                  <a:sym typeface="Calibri (MS)"/>
                </a:rPr>
                <a:t>                    └───────┬───────┘</a:t>
              </a:r>
            </a:p>
            <a:p>
              <a:pPr algn="l">
                <a:lnSpc>
                  <a:spcPts val="3242"/>
                </a:lnSpc>
              </a:pPr>
              <a:r>
                <a:rPr lang="en-US" sz="2702">
                  <a:solidFill>
                    <a:srgbClr val="FFFFFF"/>
                  </a:solidFill>
                  <a:latin typeface="Calibri (MS)"/>
                  <a:ea typeface="Calibri (MS)"/>
                  <a:cs typeface="Calibri (MS)"/>
                  <a:sym typeface="Calibri (MS)"/>
                </a:rPr>
                <a:t>                            ↓</a:t>
              </a:r>
            </a:p>
            <a:p>
              <a:pPr algn="l">
                <a:lnSpc>
                  <a:spcPts val="3242"/>
                </a:lnSpc>
              </a:pPr>
              <a:r>
                <a:rPr lang="en-US" sz="2702">
                  <a:solidFill>
                    <a:srgbClr val="FFFFFF"/>
                  </a:solidFill>
                  <a:latin typeface="Calibri (MS)"/>
                  <a:ea typeface="Calibri (MS)"/>
                  <a:cs typeface="Calibri (MS)"/>
                  <a:sym typeface="Calibri (MS)"/>
                </a:rPr>
                <a:t>                    ┌───────────────┐</a:t>
              </a:r>
            </a:p>
            <a:p>
              <a:pPr algn="l">
                <a:lnSpc>
                  <a:spcPts val="3242"/>
                </a:lnSpc>
              </a:pPr>
              <a:r>
                <a:rPr lang="en-US" sz="2702">
                  <a:solidFill>
                    <a:srgbClr val="FFFFFF"/>
                  </a:solidFill>
                  <a:latin typeface="Calibri (MS)"/>
                  <a:ea typeface="Calibri (MS)"/>
                  <a:cs typeface="Calibri (MS)"/>
                  <a:sym typeface="Calibri (MS)"/>
                </a:rPr>
                <a:t>                    │ USER PROMPT   │</a:t>
              </a:r>
            </a:p>
            <a:p>
              <a:pPr algn="l">
                <a:lnSpc>
                  <a:spcPts val="3242"/>
                </a:lnSpc>
              </a:pPr>
              <a:r>
                <a:rPr lang="en-US" sz="2702">
                  <a:solidFill>
                    <a:srgbClr val="FFFFFF"/>
                  </a:solidFill>
                  <a:latin typeface="Calibri (MS)"/>
                  <a:ea typeface="Calibri (MS)"/>
                  <a:cs typeface="Calibri (MS)"/>
                  <a:sym typeface="Calibri (MS)"/>
                </a:rPr>
                <a:t>                    └───────┬───────┘</a:t>
              </a:r>
            </a:p>
            <a:p>
              <a:pPr algn="l">
                <a:lnSpc>
                  <a:spcPts val="3242"/>
                </a:lnSpc>
              </a:pPr>
              <a:r>
                <a:rPr lang="en-US" sz="2702">
                  <a:solidFill>
                    <a:srgbClr val="FFFFFF"/>
                  </a:solidFill>
                  <a:latin typeface="Calibri (MS)"/>
                  <a:ea typeface="Calibri (MS)"/>
                  <a:cs typeface="Calibri (MS)"/>
                  <a:sym typeface="Calibri (MS)"/>
                </a:rPr>
                <a:t>                            ↓</a:t>
              </a:r>
            </a:p>
            <a:p>
              <a:pPr algn="l">
                <a:lnSpc>
                  <a:spcPts val="3242"/>
                </a:lnSpc>
              </a:pPr>
              <a:r>
                <a:rPr lang="en-US" sz="2702">
                  <a:solidFill>
                    <a:srgbClr val="FFFFFF"/>
                  </a:solidFill>
                  <a:latin typeface="Calibri (MS)"/>
                  <a:ea typeface="Calibri (MS)"/>
                  <a:cs typeface="Calibri (MS)"/>
                  <a:sym typeface="Calibri (MS)"/>
                </a:rPr>
                <a:t>                    ┌───────────────┐</a:t>
              </a:r>
            </a:p>
            <a:p>
              <a:pPr algn="l">
                <a:lnSpc>
                  <a:spcPts val="3242"/>
                </a:lnSpc>
              </a:pPr>
              <a:r>
                <a:rPr lang="en-US" sz="2702">
                  <a:solidFill>
                    <a:srgbClr val="FFFFFF"/>
                  </a:solidFill>
                  <a:latin typeface="Calibri (MS)"/>
                  <a:ea typeface="Calibri (MS)"/>
                  <a:cs typeface="Calibri (MS)"/>
                  <a:sym typeface="Calibri (MS)"/>
                </a:rPr>
                <a:t>                    │ GENERATIVE AI │</a:t>
              </a:r>
            </a:p>
            <a:p>
              <a:pPr algn="l">
                <a:lnSpc>
                  <a:spcPts val="3242"/>
                </a:lnSpc>
              </a:pPr>
              <a:r>
                <a:rPr lang="en-US" sz="2702">
                  <a:solidFill>
                    <a:srgbClr val="FFFFFF"/>
                  </a:solidFill>
                  <a:latin typeface="Calibri (MS)"/>
                  <a:ea typeface="Calibri (MS)"/>
                  <a:cs typeface="Calibri (MS)"/>
                  <a:sym typeface="Calibri (MS)"/>
                </a:rPr>
                <a:t>                    │     MODEL     │</a:t>
              </a:r>
            </a:p>
            <a:p>
              <a:pPr algn="l">
                <a:lnSpc>
                  <a:spcPts val="3242"/>
                </a:lnSpc>
              </a:pPr>
              <a:r>
                <a:rPr lang="en-US" sz="2702">
                  <a:solidFill>
                    <a:srgbClr val="FFFFFF"/>
                  </a:solidFill>
                  <a:latin typeface="Calibri (MS)"/>
                  <a:ea typeface="Calibri (MS)"/>
                  <a:cs typeface="Calibri (MS)"/>
                  <a:sym typeface="Calibri (MS)"/>
                </a:rPr>
                <a:t>                    └───────┬───────┘</a:t>
              </a:r>
            </a:p>
            <a:p>
              <a:pPr algn="l">
                <a:lnSpc>
                  <a:spcPts val="3242"/>
                </a:lnSpc>
              </a:pPr>
              <a:r>
                <a:rPr lang="en-US" sz="2702">
                  <a:solidFill>
                    <a:srgbClr val="FFFFFF"/>
                  </a:solidFill>
                  <a:latin typeface="Calibri (MS)"/>
                  <a:ea typeface="Calibri (MS)"/>
                  <a:cs typeface="Calibri (MS)"/>
                  <a:sym typeface="Calibri (MS)"/>
                </a:rPr>
                <a:t>                            ↓</a:t>
              </a:r>
            </a:p>
            <a:p>
              <a:pPr algn="l">
                <a:lnSpc>
                  <a:spcPts val="3242"/>
                </a:lnSpc>
              </a:pPr>
              <a:r>
                <a:rPr lang="en-US" sz="2702">
                  <a:solidFill>
                    <a:srgbClr val="FFFFFF"/>
                  </a:solidFill>
                  <a:latin typeface="Calibri (MS)"/>
                  <a:ea typeface="Calibri (MS)"/>
                  <a:cs typeface="Calibri (MS)"/>
                  <a:sym typeface="Calibri (MS)"/>
                </a:rPr>
                <a:t>                    ┌───────────────┐</a:t>
              </a:r>
            </a:p>
            <a:p>
              <a:pPr algn="l">
                <a:lnSpc>
                  <a:spcPts val="3242"/>
                </a:lnSpc>
              </a:pPr>
              <a:r>
                <a:rPr lang="en-US" sz="2702">
                  <a:solidFill>
                    <a:srgbClr val="FFFFFF"/>
                  </a:solidFill>
                  <a:latin typeface="Calibri (MS)"/>
                  <a:ea typeface="Calibri (MS)"/>
                  <a:cs typeface="Calibri (MS)"/>
                  <a:sym typeface="Calibri (MS)"/>
                </a:rPr>
                <a:t>                    │   CONTEXT &amp;   │</a:t>
              </a:r>
            </a:p>
            <a:p>
              <a:pPr algn="l">
                <a:lnSpc>
                  <a:spcPts val="3242"/>
                </a:lnSpc>
              </a:pPr>
              <a:r>
                <a:rPr lang="en-US" sz="2702">
                  <a:solidFill>
                    <a:srgbClr val="FFFFFF"/>
                  </a:solidFill>
                  <a:latin typeface="Calibri (MS)"/>
                  <a:ea typeface="Calibri (MS)"/>
                  <a:cs typeface="Calibri (MS)"/>
                  <a:sym typeface="Calibri (MS)"/>
                </a:rPr>
                <a:t>                    │   PROCESSING  │</a:t>
              </a:r>
            </a:p>
            <a:p>
              <a:pPr algn="l">
                <a:lnSpc>
                  <a:spcPts val="3242"/>
                </a:lnSpc>
              </a:pPr>
              <a:r>
                <a:rPr lang="en-US" sz="2702">
                  <a:solidFill>
                    <a:srgbClr val="FFFFFF"/>
                  </a:solidFill>
                  <a:latin typeface="Calibri (MS)"/>
                  <a:ea typeface="Calibri (MS)"/>
                  <a:cs typeface="Calibri (MS)"/>
                  <a:sym typeface="Calibri (MS)"/>
                </a:rPr>
                <a:t>                    └───────┬───────┘</a:t>
              </a:r>
            </a:p>
            <a:p>
              <a:pPr algn="l">
                <a:lnSpc>
                  <a:spcPts val="3242"/>
                </a:lnSpc>
              </a:pPr>
              <a:r>
                <a:rPr lang="en-US" sz="2702">
                  <a:solidFill>
                    <a:srgbClr val="FFFFFF"/>
                  </a:solidFill>
                  <a:latin typeface="Calibri (MS)"/>
                  <a:ea typeface="Calibri (MS)"/>
                  <a:cs typeface="Calibri (MS)"/>
                  <a:sym typeface="Calibri (MS)"/>
                </a:rPr>
                <a:t>                            ↓</a:t>
              </a:r>
            </a:p>
            <a:p>
              <a:pPr algn="l">
                <a:lnSpc>
                  <a:spcPts val="3242"/>
                </a:lnSpc>
              </a:pPr>
              <a:r>
                <a:rPr lang="en-US" sz="2702">
                  <a:solidFill>
                    <a:srgbClr val="FFFFFF"/>
                  </a:solidFill>
                  <a:latin typeface="Calibri (MS)"/>
                  <a:ea typeface="Calibri (MS)"/>
                  <a:cs typeface="Calibri (MS)"/>
                  <a:sym typeface="Calibri (MS)"/>
                </a:rPr>
                <a:t>                    ┌───────────────┐</a:t>
              </a:r>
            </a:p>
            <a:p>
              <a:pPr algn="l">
                <a:lnSpc>
                  <a:spcPts val="3242"/>
                </a:lnSpc>
              </a:pPr>
              <a:r>
                <a:rPr lang="en-US" sz="2702">
                  <a:solidFill>
                    <a:srgbClr val="FFFFFF"/>
                  </a:solidFill>
                  <a:latin typeface="Calibri (MS)"/>
                  <a:ea typeface="Calibri (MS)"/>
                  <a:cs typeface="Calibri (MS)"/>
                  <a:sym typeface="Calibri (MS)"/>
                </a:rPr>
                <a:t>                    │GENERATED OUTPUT│</a:t>
              </a:r>
            </a:p>
            <a:p>
              <a:pPr algn="l">
                <a:lnSpc>
                  <a:spcPts val="3242"/>
                </a:lnSpc>
              </a:pPr>
              <a:r>
                <a:rPr lang="en-US" sz="2702">
                  <a:solidFill>
                    <a:srgbClr val="FFFFFF"/>
                  </a:solidFill>
                  <a:latin typeface="Calibri (MS)"/>
                  <a:ea typeface="Calibri (MS)"/>
                  <a:cs typeface="Calibri (MS)"/>
                  <a:sym typeface="Calibri (MS)"/>
                </a:rPr>
                <a:t>                    └───────────────┘</a:t>
              </a:r>
            </a:p>
          </p:txBody>
        </p:sp>
      </p:grpSp>
      <p:sp>
        <p:nvSpPr>
          <p:cNvPr name="TextBox 6" id="6"/>
          <p:cNvSpPr txBox="true"/>
          <p:nvPr/>
        </p:nvSpPr>
        <p:spPr>
          <a:xfrm rot="0">
            <a:off x="4591494" y="1958369"/>
            <a:ext cx="14047723" cy="6403521"/>
          </a:xfrm>
          <a:prstGeom prst="rect">
            <a:avLst/>
          </a:prstGeom>
        </p:spPr>
        <p:txBody>
          <a:bodyPr anchor="t" rtlCol="false" tIns="0" lIns="0" bIns="0" rIns="0">
            <a:spAutoFit/>
          </a:bodyPr>
          <a:lstStyle/>
          <a:p>
            <a:pPr algn="l">
              <a:lnSpc>
                <a:spcPts val="2550"/>
              </a:lnSpc>
            </a:pPr>
            <a:r>
              <a:rPr lang="en-US" sz="2125">
                <a:solidFill>
                  <a:srgbClr val="282828"/>
                </a:solidFill>
                <a:latin typeface="Calibri (MS)"/>
                <a:ea typeface="Calibri (MS)"/>
                <a:cs typeface="Calibri (MS)"/>
                <a:sym typeface="Calibri (MS)"/>
              </a:rPr>
              <a:t>                    ┌───────────────┐</a:t>
            </a:r>
          </a:p>
          <a:p>
            <a:pPr algn="l">
              <a:lnSpc>
                <a:spcPts val="2550"/>
              </a:lnSpc>
            </a:pPr>
            <a:r>
              <a:rPr lang="en-US" sz="2125">
                <a:solidFill>
                  <a:srgbClr val="282828"/>
                </a:solidFill>
                <a:latin typeface="Calibri (MS)"/>
                <a:ea typeface="Calibri (MS)"/>
                <a:cs typeface="Calibri (MS)"/>
                <a:sym typeface="Calibri (MS)"/>
              </a:rPr>
              <a:t>                    │     USER      │</a:t>
            </a:r>
          </a:p>
          <a:p>
            <a:pPr algn="l">
              <a:lnSpc>
                <a:spcPts val="2550"/>
              </a:lnSpc>
            </a:pPr>
            <a:r>
              <a:rPr lang="en-US" sz="2125">
                <a:solidFill>
                  <a:srgbClr val="282828"/>
                </a:solidFill>
                <a:latin typeface="Calibri (MS)"/>
                <a:ea typeface="Calibri (MS)"/>
                <a:cs typeface="Calibri (MS)"/>
                <a:sym typeface="Calibri (MS)"/>
              </a:rPr>
              <a:t>                    └───────┬───────┘</a:t>
            </a:r>
          </a:p>
          <a:p>
            <a:pPr algn="l">
              <a:lnSpc>
                <a:spcPts val="2550"/>
              </a:lnSpc>
            </a:pPr>
            <a:r>
              <a:rPr lang="en-US" sz="2125">
                <a:solidFill>
                  <a:srgbClr val="282828"/>
                </a:solidFill>
                <a:latin typeface="Calibri (MS)"/>
                <a:ea typeface="Calibri (MS)"/>
                <a:cs typeface="Calibri (MS)"/>
                <a:sym typeface="Calibri (MS)"/>
              </a:rPr>
              <a:t>                            ↓</a:t>
            </a:r>
          </a:p>
          <a:p>
            <a:pPr algn="l">
              <a:lnSpc>
                <a:spcPts val="2550"/>
              </a:lnSpc>
            </a:pPr>
            <a:r>
              <a:rPr lang="en-US" sz="2125">
                <a:solidFill>
                  <a:srgbClr val="282828"/>
                </a:solidFill>
                <a:latin typeface="Calibri (MS)"/>
                <a:ea typeface="Calibri (MS)"/>
                <a:cs typeface="Calibri (MS)"/>
                <a:sym typeface="Calibri (MS)"/>
              </a:rPr>
              <a:t>                    ┌───────────────┐</a:t>
            </a:r>
          </a:p>
          <a:p>
            <a:pPr algn="l">
              <a:lnSpc>
                <a:spcPts val="2550"/>
              </a:lnSpc>
            </a:pPr>
            <a:r>
              <a:rPr lang="en-US" sz="2125">
                <a:solidFill>
                  <a:srgbClr val="282828"/>
                </a:solidFill>
                <a:latin typeface="Calibri (MS)"/>
                <a:ea typeface="Calibri (MS)"/>
                <a:cs typeface="Calibri (MS)"/>
                <a:sym typeface="Calibri (MS)"/>
              </a:rPr>
              <a:t>                    │ USER REQUEST  │</a:t>
            </a:r>
          </a:p>
          <a:p>
            <a:pPr algn="l">
              <a:lnSpc>
                <a:spcPts val="2550"/>
              </a:lnSpc>
            </a:pPr>
            <a:r>
              <a:rPr lang="en-US" sz="2125">
                <a:solidFill>
                  <a:srgbClr val="282828"/>
                </a:solidFill>
                <a:latin typeface="Calibri (MS)"/>
                <a:ea typeface="Calibri (MS)"/>
                <a:cs typeface="Calibri (MS)"/>
                <a:sym typeface="Calibri (MS)"/>
              </a:rPr>
              <a:t>                    └───────┬───────┘</a:t>
            </a:r>
          </a:p>
          <a:p>
            <a:pPr algn="l">
              <a:lnSpc>
                <a:spcPts val="2550"/>
              </a:lnSpc>
            </a:pPr>
            <a:r>
              <a:rPr lang="en-US" sz="2125">
                <a:solidFill>
                  <a:srgbClr val="282828"/>
                </a:solidFill>
                <a:latin typeface="Calibri (MS)"/>
                <a:ea typeface="Calibri (MS)"/>
                <a:cs typeface="Calibri (MS)"/>
                <a:sym typeface="Calibri (MS)"/>
              </a:rPr>
              <a:t>                            ↓</a:t>
            </a:r>
          </a:p>
          <a:p>
            <a:pPr algn="l">
              <a:lnSpc>
                <a:spcPts val="2550"/>
              </a:lnSpc>
            </a:pPr>
            <a:r>
              <a:rPr lang="en-US" sz="2125">
                <a:solidFill>
                  <a:srgbClr val="282828"/>
                </a:solidFill>
                <a:latin typeface="Calibri (MS)"/>
                <a:ea typeface="Calibri (MS)"/>
                <a:cs typeface="Calibri (MS)"/>
                <a:sym typeface="Calibri (MS)"/>
              </a:rPr>
              <a:t>                    ┌───────────────┐</a:t>
            </a:r>
          </a:p>
          <a:p>
            <a:pPr algn="l">
              <a:lnSpc>
                <a:spcPts val="2550"/>
              </a:lnSpc>
            </a:pPr>
            <a:r>
              <a:rPr lang="en-US" sz="2125">
                <a:solidFill>
                  <a:srgbClr val="282828"/>
                </a:solidFill>
                <a:latin typeface="Calibri (MS)"/>
                <a:ea typeface="Calibri (MS)"/>
                <a:cs typeface="Calibri (MS)"/>
                <a:sym typeface="Calibri (MS)"/>
              </a:rPr>
              <a:t>                    │   AI AGENT    │</a:t>
            </a:r>
          </a:p>
          <a:p>
            <a:pPr algn="l">
              <a:lnSpc>
                <a:spcPts val="2550"/>
              </a:lnSpc>
            </a:pPr>
            <a:r>
              <a:rPr lang="en-US" sz="2125">
                <a:solidFill>
                  <a:srgbClr val="282828"/>
                </a:solidFill>
                <a:latin typeface="Calibri (MS)"/>
                <a:ea typeface="Calibri (MS)"/>
                <a:cs typeface="Calibri (MS)"/>
                <a:sym typeface="Calibri (MS)"/>
              </a:rPr>
              <a:t>                    │ Reason + Plan │</a:t>
            </a:r>
          </a:p>
          <a:p>
            <a:pPr algn="l">
              <a:lnSpc>
                <a:spcPts val="2550"/>
              </a:lnSpc>
            </a:pPr>
            <a:r>
              <a:rPr lang="en-US" sz="2125">
                <a:solidFill>
                  <a:srgbClr val="282828"/>
                </a:solidFill>
                <a:latin typeface="Calibri (MS)"/>
                <a:ea typeface="Calibri (MS)"/>
                <a:cs typeface="Calibri (MS)"/>
                <a:sym typeface="Calibri (MS)"/>
              </a:rPr>
              <a:t>                    └───┬─────┬─────┘</a:t>
            </a:r>
          </a:p>
          <a:p>
            <a:pPr algn="l">
              <a:lnSpc>
                <a:spcPts val="2550"/>
              </a:lnSpc>
            </a:pPr>
            <a:r>
              <a:rPr lang="en-US" sz="2125">
                <a:solidFill>
                  <a:srgbClr val="282828"/>
                </a:solidFill>
                <a:latin typeface="Calibri (MS)"/>
                <a:ea typeface="Calibri (MS)"/>
                <a:cs typeface="Calibri (MS)"/>
                <a:sym typeface="Calibri (MS)"/>
              </a:rPr>
              <a:t>                        ↓     ↓</a:t>
            </a:r>
          </a:p>
          <a:p>
            <a:pPr algn="l">
              <a:lnSpc>
                <a:spcPts val="2550"/>
              </a:lnSpc>
            </a:pPr>
            <a:r>
              <a:rPr lang="en-US" sz="2125">
                <a:solidFill>
                  <a:srgbClr val="282828"/>
                </a:solidFill>
                <a:latin typeface="Calibri (MS)"/>
                <a:ea typeface="Calibri (MS)"/>
                <a:cs typeface="Calibri (MS)"/>
                <a:sym typeface="Calibri (MS)"/>
              </a:rPr>
              <a:t>                  ┌────────┐ ┌────────┐</a:t>
            </a:r>
          </a:p>
          <a:p>
            <a:pPr algn="l">
              <a:lnSpc>
                <a:spcPts val="2550"/>
              </a:lnSpc>
            </a:pPr>
            <a:r>
              <a:rPr lang="en-US" sz="2125">
                <a:solidFill>
                  <a:srgbClr val="282828"/>
                </a:solidFill>
                <a:latin typeface="Calibri (MS)"/>
                <a:ea typeface="Calibri (MS)"/>
                <a:cs typeface="Calibri (MS)"/>
                <a:sym typeface="Calibri (MS)"/>
              </a:rPr>
              <a:t>                  │Memory/ │ │Tools / │</a:t>
            </a:r>
          </a:p>
          <a:p>
            <a:pPr algn="l">
              <a:lnSpc>
                <a:spcPts val="2550"/>
              </a:lnSpc>
            </a:pPr>
            <a:r>
              <a:rPr lang="en-US" sz="2125">
                <a:solidFill>
                  <a:srgbClr val="282828"/>
                </a:solidFill>
                <a:latin typeface="Calibri (MS)"/>
                <a:ea typeface="Calibri (MS)"/>
                <a:cs typeface="Calibri (MS)"/>
                <a:sym typeface="Calibri (MS)"/>
              </a:rPr>
              <a:t>                  │Context │ │Knowledge│</a:t>
            </a:r>
          </a:p>
          <a:p>
            <a:pPr algn="l">
              <a:lnSpc>
                <a:spcPts val="2550"/>
              </a:lnSpc>
            </a:pPr>
            <a:r>
              <a:rPr lang="en-US" sz="2125">
                <a:solidFill>
                  <a:srgbClr val="282828"/>
                </a:solidFill>
                <a:latin typeface="Calibri (MS)"/>
                <a:ea typeface="Calibri (MS)"/>
                <a:cs typeface="Calibri (MS)"/>
                <a:sym typeface="Calibri (MS)"/>
              </a:rPr>
              <a:t>                  └────┬───┘ └───┬────┘</a:t>
            </a:r>
          </a:p>
          <a:p>
            <a:pPr algn="l">
              <a:lnSpc>
                <a:spcPts val="2550"/>
              </a:lnSpc>
            </a:pPr>
            <a:r>
              <a:rPr lang="en-US" sz="2125">
                <a:solidFill>
                  <a:srgbClr val="282828"/>
                </a:solidFill>
                <a:latin typeface="Calibri (MS)"/>
                <a:ea typeface="Calibri (MS)"/>
                <a:cs typeface="Calibri (MS)"/>
                <a:sym typeface="Calibri (MS)"/>
              </a:rPr>
              <a:t>                       └────┬────┘</a:t>
            </a:r>
          </a:p>
          <a:p>
            <a:pPr algn="l">
              <a:lnSpc>
                <a:spcPts val="2550"/>
              </a:lnSpc>
            </a:pPr>
            <a:r>
              <a:rPr lang="en-US" sz="2125">
                <a:solidFill>
                  <a:srgbClr val="282828"/>
                </a:solidFill>
                <a:latin typeface="Calibri (MS)"/>
                <a:ea typeface="Calibri (MS)"/>
                <a:cs typeface="Calibri (MS)"/>
                <a:sym typeface="Calibri (MS)"/>
              </a:rPr>
              <a:t>                            ↓</a:t>
            </a:r>
          </a:p>
          <a:p>
            <a:pPr algn="l">
              <a:lnSpc>
                <a:spcPts val="2550"/>
              </a:lnSpc>
            </a:pPr>
            <a:r>
              <a:rPr lang="en-US" sz="2125">
                <a:solidFill>
                  <a:srgbClr val="282828"/>
                </a:solidFill>
                <a:latin typeface="Calibri (MS)"/>
                <a:ea typeface="Calibri (MS)"/>
                <a:cs typeface="Calibri (MS)"/>
                <a:sym typeface="Calibri (MS)"/>
              </a:rPr>
              <a:t>                    ┌───────────────┐</a:t>
            </a:r>
          </a:p>
          <a:p>
            <a:pPr algn="l">
              <a:lnSpc>
                <a:spcPts val="2550"/>
              </a:lnSpc>
            </a:pPr>
            <a:r>
              <a:rPr lang="en-US" sz="2125">
                <a:solidFill>
                  <a:srgbClr val="282828"/>
                </a:solidFill>
                <a:latin typeface="Calibri (MS)"/>
                <a:ea typeface="Calibri (MS)"/>
                <a:cs typeface="Calibri (MS)"/>
                <a:sym typeface="Calibri (MS)"/>
              </a:rPr>
              <a:t>                    │ AI RESPONSE   │</a:t>
            </a:r>
          </a:p>
          <a:p>
            <a:pPr algn="l">
              <a:lnSpc>
                <a:spcPts val="2550"/>
              </a:lnSpc>
            </a:pPr>
            <a:r>
              <a:rPr lang="en-US" sz="2125">
                <a:solidFill>
                  <a:srgbClr val="282828"/>
                </a:solidFill>
                <a:latin typeface="Calibri (MS)"/>
                <a:ea typeface="Calibri (MS)"/>
                <a:cs typeface="Calibri (MS)"/>
                <a:sym typeface="Calibri (MS)"/>
              </a:rPr>
              <a:t>                    └───────────────┘</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5F7FA"/>
        </a:solidFill>
      </p:bgPr>
    </p:bg>
    <p:spTree>
      <p:nvGrpSpPr>
        <p:cNvPr id="1" name=""/>
        <p:cNvGrpSpPr/>
        <p:nvPr/>
      </p:nvGrpSpPr>
      <p:grpSpPr>
        <a:xfrm>
          <a:off x="0" y="0"/>
          <a:ext cx="0" cy="0"/>
          <a:chOff x="0" y="0"/>
          <a:chExt cx="0" cy="0"/>
        </a:xfrm>
      </p:grpSpPr>
      <p:sp>
        <p:nvSpPr>
          <p:cNvPr name="TextBox 2" id="2"/>
          <p:cNvSpPr txBox="true"/>
          <p:nvPr/>
        </p:nvSpPr>
        <p:spPr>
          <a:xfrm rot="0">
            <a:off x="1052312" y="577701"/>
            <a:ext cx="16289188" cy="1092422"/>
          </a:xfrm>
          <a:prstGeom prst="rect">
            <a:avLst/>
          </a:prstGeom>
        </p:spPr>
        <p:txBody>
          <a:bodyPr anchor="t" rtlCol="false" tIns="0" lIns="0" bIns="0" rIns="0">
            <a:spAutoFit/>
          </a:bodyPr>
          <a:lstStyle/>
          <a:p>
            <a:pPr algn="l">
              <a:lnSpc>
                <a:spcPts val="5043"/>
              </a:lnSpc>
            </a:pPr>
            <a:r>
              <a:rPr lang="en-US" sz="4203" b="true">
                <a:solidFill>
                  <a:srgbClr val="000000"/>
                </a:solidFill>
                <a:latin typeface="Calibri (MS) Bold"/>
                <a:ea typeface="Calibri (MS) Bold"/>
                <a:cs typeface="Calibri (MS) Bold"/>
                <a:sym typeface="Calibri (MS) Bold"/>
              </a:rPr>
              <a:t>RESULTS ACHIEVED</a:t>
            </a:r>
          </a:p>
        </p:txBody>
      </p:sp>
      <p:grpSp>
        <p:nvGrpSpPr>
          <p:cNvPr name="Group 3" id="3"/>
          <p:cNvGrpSpPr/>
          <p:nvPr/>
        </p:nvGrpSpPr>
        <p:grpSpPr>
          <a:xfrm rot="0">
            <a:off x="960872" y="1784471"/>
            <a:ext cx="2745343" cy="109814"/>
            <a:chOff x="0" y="0"/>
            <a:chExt cx="3660458" cy="146418"/>
          </a:xfrm>
        </p:grpSpPr>
        <p:sp>
          <p:nvSpPr>
            <p:cNvPr name="Freeform 4" id="4"/>
            <p:cNvSpPr/>
            <p:nvPr/>
          </p:nvSpPr>
          <p:spPr>
            <a:xfrm flipH="false" flipV="false" rot="0">
              <a:off x="0" y="0"/>
              <a:ext cx="3660521" cy="146431"/>
            </a:xfrm>
            <a:custGeom>
              <a:avLst/>
              <a:gdLst/>
              <a:ahLst/>
              <a:cxnLst/>
              <a:rect r="r" b="b" t="t" l="l"/>
              <a:pathLst>
                <a:path h="146431" w="3660521">
                  <a:moveTo>
                    <a:pt x="0" y="0"/>
                  </a:moveTo>
                  <a:lnTo>
                    <a:pt x="3660521" y="0"/>
                  </a:lnTo>
                  <a:lnTo>
                    <a:pt x="3660521" y="146431"/>
                  </a:lnTo>
                  <a:lnTo>
                    <a:pt x="0" y="146431"/>
                  </a:lnTo>
                  <a:close/>
                </a:path>
              </a:pathLst>
            </a:custGeom>
            <a:solidFill>
              <a:srgbClr val="3278B4"/>
            </a:solidFill>
          </p:spPr>
        </p:sp>
        <p:sp>
          <p:nvSpPr>
            <p:cNvPr name="TextBox 5" id="5"/>
            <p:cNvSpPr txBox="true"/>
            <p:nvPr/>
          </p:nvSpPr>
          <p:spPr>
            <a:xfrm>
              <a:off x="0" y="-57150"/>
              <a:ext cx="3660458" cy="203568"/>
            </a:xfrm>
            <a:prstGeom prst="rect">
              <a:avLst/>
            </a:prstGeom>
          </p:spPr>
          <p:txBody>
            <a:bodyPr anchor="ctr" rtlCol="false" tIns="50800" lIns="50800" bIns="50800" rIns="50800"/>
            <a:lstStyle/>
            <a:p>
              <a:pPr algn="l">
                <a:lnSpc>
                  <a:spcPts val="3242"/>
                </a:lnSpc>
              </a:pPr>
              <a:r>
                <a:rPr lang="en-US" sz="2702">
                  <a:solidFill>
                    <a:srgbClr val="FFFFFF"/>
                  </a:solidFill>
                  <a:latin typeface="Calibri (MS)"/>
                  <a:ea typeface="Calibri (MS)"/>
                  <a:cs typeface="Calibri (MS)"/>
                  <a:sym typeface="Calibri (MS)"/>
                </a:rPr>
                <a:t>The project successfully demonstrates the practical application of Generative AI for student support and content creation.</a:t>
              </a:r>
            </a:p>
            <a:p>
              <a:pPr algn="l">
                <a:lnSpc>
                  <a:spcPts val="3242"/>
                </a:lnSpc>
              </a:pPr>
            </a:p>
            <a:p>
              <a:pPr algn="l">
                <a:lnSpc>
                  <a:spcPts val="3242"/>
                </a:lnSpc>
              </a:pPr>
              <a:r>
                <a:rPr lang="en-US" sz="2702">
                  <a:solidFill>
                    <a:srgbClr val="FFFFFF"/>
                  </a:solidFill>
                  <a:latin typeface="Calibri (MS)"/>
                  <a:ea typeface="Calibri (MS)"/>
                  <a:cs typeface="Calibri (MS)"/>
                  <a:sym typeface="Calibri (MS)"/>
                </a:rPr>
                <a:t>Results Achieved:</a:t>
              </a:r>
            </a:p>
            <a:p>
              <a:pPr algn="l">
                <a:lnSpc>
                  <a:spcPts val="3242"/>
                </a:lnSpc>
              </a:pPr>
              <a:r>
                <a:rPr lang="en-US" sz="2702">
                  <a:solidFill>
                    <a:srgbClr val="FFFFFF"/>
                  </a:solidFill>
                  <a:latin typeface="Calibri (MS)"/>
                  <a:ea typeface="Calibri (MS)"/>
                  <a:cs typeface="Calibri (MS)"/>
                  <a:sym typeface="Calibri (MS)"/>
                </a:rPr>
                <a:t>• Quick generation of useful content.</a:t>
              </a:r>
            </a:p>
            <a:p>
              <a:pPr algn="l">
                <a:lnSpc>
                  <a:spcPts val="3242"/>
                </a:lnSpc>
              </a:pPr>
              <a:r>
                <a:rPr lang="en-US" sz="2702">
                  <a:solidFill>
                    <a:srgbClr val="FFFFFF"/>
                  </a:solidFill>
                  <a:latin typeface="Calibri (MS)"/>
                  <a:ea typeface="Calibri (MS)"/>
                  <a:cs typeface="Calibri (MS)"/>
                  <a:sym typeface="Calibri (MS)"/>
                </a:rPr>
                <a:t>• Personalized responses based on user prompts.</a:t>
              </a:r>
            </a:p>
            <a:p>
              <a:pPr algn="l">
                <a:lnSpc>
                  <a:spcPts val="3242"/>
                </a:lnSpc>
              </a:pPr>
              <a:r>
                <a:rPr lang="en-US" sz="2702">
                  <a:solidFill>
                    <a:srgbClr val="FFFFFF"/>
                  </a:solidFill>
                  <a:latin typeface="Calibri (MS)"/>
                  <a:ea typeface="Calibri (MS)"/>
                  <a:cs typeface="Calibri (MS)"/>
                  <a:sym typeface="Calibri (MS)"/>
                </a:rPr>
                <a:t>• Improved efficiency in preparing academic content.</a:t>
              </a:r>
            </a:p>
            <a:p>
              <a:pPr algn="l">
                <a:lnSpc>
                  <a:spcPts val="3242"/>
                </a:lnSpc>
              </a:pPr>
              <a:r>
                <a:rPr lang="en-US" sz="2702">
                  <a:solidFill>
                    <a:srgbClr val="FFFFFF"/>
                  </a:solidFill>
                  <a:latin typeface="Calibri (MS)"/>
                  <a:ea typeface="Calibri (MS)"/>
                  <a:cs typeface="Calibri (MS)"/>
                  <a:sym typeface="Calibri (MS)"/>
                </a:rPr>
                <a:t>• Easy generation of summaries and explanations.</a:t>
              </a:r>
            </a:p>
            <a:p>
              <a:pPr algn="l">
                <a:lnSpc>
                  <a:spcPts val="3242"/>
                </a:lnSpc>
              </a:pPr>
              <a:r>
                <a:rPr lang="en-US" sz="2702">
                  <a:solidFill>
                    <a:srgbClr val="FFFFFF"/>
                  </a:solidFill>
                  <a:latin typeface="Calibri (MS)"/>
                  <a:ea typeface="Calibri (MS)"/>
                  <a:cs typeface="Calibri (MS)"/>
                  <a:sym typeface="Calibri (MS)"/>
                </a:rPr>
                <a:t>• Support for project and career-related content.</a:t>
              </a:r>
            </a:p>
            <a:p>
              <a:pPr algn="l">
                <a:lnSpc>
                  <a:spcPts val="3242"/>
                </a:lnSpc>
              </a:pPr>
              <a:r>
                <a:rPr lang="en-US" sz="2702">
                  <a:solidFill>
                    <a:srgbClr val="FFFFFF"/>
                  </a:solidFill>
                  <a:latin typeface="Calibri (MS)"/>
                  <a:ea typeface="Calibri (MS)"/>
                  <a:cs typeface="Calibri (MS)"/>
                  <a:sym typeface="Calibri (MS)"/>
                </a:rPr>
                <a:t>• Demonstration of Large Language Model capabilities.</a:t>
              </a:r>
            </a:p>
            <a:p>
              <a:pPr algn="l">
                <a:lnSpc>
                  <a:spcPts val="3242"/>
                </a:lnSpc>
              </a:pPr>
            </a:p>
            <a:p>
              <a:pPr algn="l">
                <a:lnSpc>
                  <a:spcPts val="3242"/>
                </a:lnSpc>
              </a:pPr>
              <a:r>
                <a:rPr lang="en-US" sz="2702">
                  <a:solidFill>
                    <a:srgbClr val="FFFFFF"/>
                  </a:solidFill>
                  <a:latin typeface="Calibri (MS)"/>
                  <a:ea typeface="Calibri (MS)"/>
                  <a:cs typeface="Calibri (MS)"/>
                  <a:sym typeface="Calibri (MS)"/>
                </a:rPr>
                <a:t>Example Output:</a:t>
              </a:r>
            </a:p>
            <a:p>
              <a:pPr algn="l">
                <a:lnSpc>
                  <a:spcPts val="3242"/>
                </a:lnSpc>
              </a:pPr>
              <a:r>
                <a:rPr lang="en-US" sz="2702">
                  <a:solidFill>
                    <a:srgbClr val="FFFFFF"/>
                  </a:solidFill>
                  <a:latin typeface="Calibri (MS)"/>
                  <a:ea typeface="Calibri (MS)"/>
                  <a:cs typeface="Calibri (MS)"/>
                  <a:sym typeface="Calibri (MS)"/>
                </a:rPr>
                <a:t>User: “Generate a summary about Artificial Intelligence.”</a:t>
              </a:r>
            </a:p>
            <a:p>
              <a:pPr algn="l">
                <a:lnSpc>
                  <a:spcPts val="3242"/>
                </a:lnSpc>
              </a:pPr>
              <a:r>
                <a:rPr lang="en-US" sz="2702">
                  <a:solidFill>
                    <a:srgbClr val="FFFFFF"/>
                  </a:solidFill>
                  <a:latin typeface="Calibri (MS)"/>
                  <a:ea typeface="Calibri (MS)"/>
                  <a:cs typeface="Calibri (MS)"/>
                  <a:sym typeface="Calibri (MS)"/>
                </a:rPr>
                <a:t>System: Processes the prompt and generates a clear summary.</a:t>
              </a:r>
            </a:p>
          </p:txBody>
        </p:sp>
      </p:grpSp>
      <p:sp>
        <p:nvSpPr>
          <p:cNvPr name="TextBox 6" id="6"/>
          <p:cNvSpPr txBox="true"/>
          <p:nvPr/>
        </p:nvSpPr>
        <p:spPr>
          <a:xfrm rot="0">
            <a:off x="1326842" y="2184844"/>
            <a:ext cx="15877384" cy="7240876"/>
          </a:xfrm>
          <a:prstGeom prst="rect">
            <a:avLst/>
          </a:prstGeom>
        </p:spPr>
        <p:txBody>
          <a:bodyPr anchor="t" rtlCol="false" tIns="0" lIns="0" bIns="0" rIns="0">
            <a:spAutoFit/>
          </a:bodyPr>
          <a:lstStyle/>
          <a:p>
            <a:pPr algn="l">
              <a:lnSpc>
                <a:spcPts val="3242"/>
              </a:lnSpc>
            </a:pPr>
            <a:r>
              <a:rPr lang="en-US" sz="2702">
                <a:solidFill>
                  <a:srgbClr val="282828"/>
                </a:solidFill>
                <a:latin typeface="Calibri (MS)"/>
                <a:ea typeface="Calibri (MS)"/>
                <a:cs typeface="Calibri (MS)"/>
                <a:sym typeface="Calibri (MS)"/>
              </a:rPr>
              <a:t>The project successfully demonstrates how an Agentic AI system can support students in internship and career preparation.</a:t>
            </a:r>
          </a:p>
          <a:p>
            <a:pPr algn="l">
              <a:lnSpc>
                <a:spcPts val="3242"/>
              </a:lnSpc>
            </a:pPr>
          </a:p>
          <a:p>
            <a:pPr algn="l">
              <a:lnSpc>
                <a:spcPts val="3242"/>
              </a:lnSpc>
            </a:pPr>
            <a:r>
              <a:rPr lang="en-US" sz="2702">
                <a:solidFill>
                  <a:srgbClr val="282828"/>
                </a:solidFill>
                <a:latin typeface="Calibri (MS)"/>
                <a:ea typeface="Calibri (MS)"/>
                <a:cs typeface="Calibri (MS)"/>
                <a:sym typeface="Calibri (MS)"/>
              </a:rPr>
              <a:t>Results Achieved:</a:t>
            </a:r>
          </a:p>
          <a:p>
            <a:pPr algn="l">
              <a:lnSpc>
                <a:spcPts val="3242"/>
              </a:lnSpc>
            </a:pPr>
            <a:r>
              <a:rPr lang="en-US" sz="2702">
                <a:solidFill>
                  <a:srgbClr val="282828"/>
                </a:solidFill>
                <a:latin typeface="Calibri (MS)"/>
                <a:ea typeface="Calibri (MS)"/>
                <a:cs typeface="Calibri (MS)"/>
                <a:sym typeface="Calibri (MS)"/>
              </a:rPr>
              <a:t>• Improved personalized guidance for student queries.</a:t>
            </a:r>
          </a:p>
          <a:p>
            <a:pPr algn="l">
              <a:lnSpc>
                <a:spcPts val="3242"/>
              </a:lnSpc>
            </a:pPr>
            <a:r>
              <a:rPr lang="en-US" sz="2702">
                <a:solidFill>
                  <a:srgbClr val="282828"/>
                </a:solidFill>
                <a:latin typeface="Calibri (MS)"/>
                <a:ea typeface="Calibri (MS)"/>
                <a:cs typeface="Calibri (MS)"/>
                <a:sym typeface="Calibri (MS)"/>
              </a:rPr>
              <a:t>• Ability to handle multi-step tasks.</a:t>
            </a:r>
          </a:p>
          <a:p>
            <a:pPr algn="l">
              <a:lnSpc>
                <a:spcPts val="3242"/>
              </a:lnSpc>
            </a:pPr>
            <a:r>
              <a:rPr lang="en-US" sz="2702">
                <a:solidFill>
                  <a:srgbClr val="282828"/>
                </a:solidFill>
                <a:latin typeface="Calibri (MS)"/>
                <a:ea typeface="Calibri (MS)"/>
                <a:cs typeface="Calibri (MS)"/>
                <a:sym typeface="Calibri (MS)"/>
              </a:rPr>
              <a:t>• Better organization of internship preparation activities.</a:t>
            </a:r>
          </a:p>
          <a:p>
            <a:pPr algn="l">
              <a:lnSpc>
                <a:spcPts val="3242"/>
              </a:lnSpc>
            </a:pPr>
            <a:r>
              <a:rPr lang="en-US" sz="2702">
                <a:solidFill>
                  <a:srgbClr val="282828"/>
                </a:solidFill>
                <a:latin typeface="Calibri (MS)"/>
                <a:ea typeface="Calibri (MS)"/>
                <a:cs typeface="Calibri (MS)"/>
                <a:sym typeface="Calibri (MS)"/>
              </a:rPr>
              <a:t>• Faster identification of relevant skills.</a:t>
            </a:r>
          </a:p>
          <a:p>
            <a:pPr algn="l">
              <a:lnSpc>
                <a:spcPts val="3242"/>
              </a:lnSpc>
            </a:pPr>
            <a:r>
              <a:rPr lang="en-US" sz="2702">
                <a:solidFill>
                  <a:srgbClr val="282828"/>
                </a:solidFill>
                <a:latin typeface="Calibri (MS)"/>
                <a:ea typeface="Calibri (MS)"/>
                <a:cs typeface="Calibri (MS)"/>
                <a:sym typeface="Calibri (MS)"/>
              </a:rPr>
              <a:t>• Goal-oriented recommendations instead of generic answers.</a:t>
            </a:r>
          </a:p>
          <a:p>
            <a:pPr algn="l">
              <a:lnSpc>
                <a:spcPts val="3242"/>
              </a:lnSpc>
            </a:pPr>
            <a:r>
              <a:rPr lang="en-US" sz="2702">
                <a:solidFill>
                  <a:srgbClr val="282828"/>
                </a:solidFill>
                <a:latin typeface="Calibri (MS)"/>
                <a:ea typeface="Calibri (MS)"/>
                <a:cs typeface="Calibri (MS)"/>
                <a:sym typeface="Calibri (MS)"/>
              </a:rPr>
              <a:t>• Demonstration of planning, reasoning, memory, and tool-based AI concepts.</a:t>
            </a:r>
          </a:p>
          <a:p>
            <a:pPr algn="l">
              <a:lnSpc>
                <a:spcPts val="3242"/>
              </a:lnSpc>
            </a:pPr>
          </a:p>
          <a:p>
            <a:pPr algn="l">
              <a:lnSpc>
                <a:spcPts val="3242"/>
              </a:lnSpc>
            </a:pPr>
            <a:r>
              <a:rPr lang="en-US" sz="2702">
                <a:solidFill>
                  <a:srgbClr val="282828"/>
                </a:solidFill>
                <a:latin typeface="Calibri (MS)"/>
                <a:ea typeface="Calibri (MS)"/>
                <a:cs typeface="Calibri (MS)"/>
                <a:sym typeface="Calibri (MS)"/>
              </a:rPr>
              <a:t>Expected Output Example:</a:t>
            </a:r>
          </a:p>
          <a:p>
            <a:pPr algn="l">
              <a:lnSpc>
                <a:spcPts val="3242"/>
              </a:lnSpc>
            </a:pPr>
            <a:r>
              <a:rPr lang="en-US" sz="2702">
                <a:solidFill>
                  <a:srgbClr val="282828"/>
                </a:solidFill>
                <a:latin typeface="Calibri (MS)"/>
                <a:ea typeface="Calibri (MS)"/>
                <a:cs typeface="Calibri (MS)"/>
                <a:sym typeface="Calibri (MS)"/>
              </a:rPr>
              <a:t>User: “I want a software testing internship.”</a:t>
            </a:r>
          </a:p>
          <a:p>
            <a:pPr algn="l">
              <a:lnSpc>
                <a:spcPts val="3242"/>
              </a:lnSpc>
            </a:pPr>
            <a:r>
              <a:rPr lang="en-US" sz="2702">
                <a:solidFill>
                  <a:srgbClr val="282828"/>
                </a:solidFill>
                <a:latin typeface="Calibri (MS)"/>
                <a:ea typeface="Calibri (MS)"/>
                <a:cs typeface="Calibri (MS)"/>
                <a:sym typeface="Calibri (MS)"/>
              </a:rPr>
              <a:t>Agent: Identifies the goal → checks required skills → suggests learning topics → provides resume/project guidance.</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5F7FA"/>
        </a:solidFill>
      </p:bgPr>
    </p:bg>
    <p:spTree>
      <p:nvGrpSpPr>
        <p:cNvPr id="1" name=""/>
        <p:cNvGrpSpPr/>
        <p:nvPr/>
      </p:nvGrpSpPr>
      <p:grpSpPr>
        <a:xfrm>
          <a:off x="0" y="0"/>
          <a:ext cx="0" cy="0"/>
          <a:chOff x="0" y="0"/>
          <a:chExt cx="0" cy="0"/>
        </a:xfrm>
      </p:grpSpPr>
      <p:sp>
        <p:nvSpPr>
          <p:cNvPr name="TextBox 2" id="2"/>
          <p:cNvSpPr txBox="true"/>
          <p:nvPr/>
        </p:nvSpPr>
        <p:spPr>
          <a:xfrm rot="0">
            <a:off x="1052312" y="577701"/>
            <a:ext cx="16289188" cy="1092422"/>
          </a:xfrm>
          <a:prstGeom prst="rect">
            <a:avLst/>
          </a:prstGeom>
        </p:spPr>
        <p:txBody>
          <a:bodyPr anchor="t" rtlCol="false" tIns="0" lIns="0" bIns="0" rIns="0">
            <a:spAutoFit/>
          </a:bodyPr>
          <a:lstStyle/>
          <a:p>
            <a:pPr algn="l">
              <a:lnSpc>
                <a:spcPts val="5043"/>
              </a:lnSpc>
            </a:pPr>
            <a:r>
              <a:rPr lang="en-US" sz="4203" b="true">
                <a:solidFill>
                  <a:srgbClr val="000000"/>
                </a:solidFill>
                <a:latin typeface="Calibri (MS) Bold"/>
                <a:ea typeface="Calibri (MS) Bold"/>
                <a:cs typeface="Calibri (MS) Bold"/>
                <a:sym typeface="Calibri (MS) Bold"/>
              </a:rPr>
              <a:t>CHALLENGES FACED</a:t>
            </a:r>
          </a:p>
        </p:txBody>
      </p:sp>
      <p:grpSp>
        <p:nvGrpSpPr>
          <p:cNvPr name="Group 3" id="3"/>
          <p:cNvGrpSpPr/>
          <p:nvPr/>
        </p:nvGrpSpPr>
        <p:grpSpPr>
          <a:xfrm rot="0">
            <a:off x="960872" y="1784471"/>
            <a:ext cx="2745343" cy="109814"/>
            <a:chOff x="0" y="0"/>
            <a:chExt cx="3660458" cy="146418"/>
          </a:xfrm>
        </p:grpSpPr>
        <p:sp>
          <p:nvSpPr>
            <p:cNvPr name="Freeform 4" id="4"/>
            <p:cNvSpPr/>
            <p:nvPr/>
          </p:nvSpPr>
          <p:spPr>
            <a:xfrm flipH="false" flipV="false" rot="0">
              <a:off x="0" y="0"/>
              <a:ext cx="3660521" cy="146431"/>
            </a:xfrm>
            <a:custGeom>
              <a:avLst/>
              <a:gdLst/>
              <a:ahLst/>
              <a:cxnLst/>
              <a:rect r="r" b="b" t="t" l="l"/>
              <a:pathLst>
                <a:path h="146431" w="3660521">
                  <a:moveTo>
                    <a:pt x="0" y="0"/>
                  </a:moveTo>
                  <a:lnTo>
                    <a:pt x="3660521" y="0"/>
                  </a:lnTo>
                  <a:lnTo>
                    <a:pt x="3660521" y="146431"/>
                  </a:lnTo>
                  <a:lnTo>
                    <a:pt x="0" y="146431"/>
                  </a:lnTo>
                  <a:close/>
                </a:path>
              </a:pathLst>
            </a:custGeom>
            <a:solidFill>
              <a:srgbClr val="3278B4"/>
            </a:solidFill>
          </p:spPr>
        </p:sp>
        <p:sp>
          <p:nvSpPr>
            <p:cNvPr name="TextBox 5" id="5"/>
            <p:cNvSpPr txBox="true"/>
            <p:nvPr/>
          </p:nvSpPr>
          <p:spPr>
            <a:xfrm>
              <a:off x="0" y="-57150"/>
              <a:ext cx="3660458" cy="203568"/>
            </a:xfrm>
            <a:prstGeom prst="rect">
              <a:avLst/>
            </a:prstGeom>
          </p:spPr>
          <p:txBody>
            <a:bodyPr anchor="ctr" rtlCol="false" tIns="50800" lIns="50800" bIns="50800" rIns="50800"/>
            <a:lstStyle/>
            <a:p>
              <a:pPr algn="l">
                <a:lnSpc>
                  <a:spcPts val="3242"/>
                </a:lnSpc>
              </a:pPr>
              <a:r>
                <a:rPr lang="en-US" sz="2702">
                  <a:solidFill>
                    <a:srgbClr val="FFFFFF"/>
                  </a:solidFill>
                  <a:latin typeface="Calibri (MS)"/>
                  <a:ea typeface="Calibri (MS)"/>
                  <a:cs typeface="Calibri (MS)"/>
                  <a:sym typeface="Calibri (MS)"/>
                </a:rPr>
                <a:t>• Writing effective prompts for accurate output.</a:t>
              </a:r>
            </a:p>
            <a:p>
              <a:pPr algn="l">
                <a:lnSpc>
                  <a:spcPts val="3242"/>
                </a:lnSpc>
              </a:pPr>
              <a:r>
                <a:rPr lang="en-US" sz="2702">
                  <a:solidFill>
                    <a:srgbClr val="FFFFFF"/>
                  </a:solidFill>
                  <a:latin typeface="Calibri (MS)"/>
                  <a:ea typeface="Calibri (MS)"/>
                  <a:cs typeface="Calibri (MS)"/>
                  <a:sym typeface="Calibri (MS)"/>
                </a:rPr>
                <a:t>• Maintaining relevant context.</a:t>
              </a:r>
            </a:p>
            <a:p>
              <a:pPr algn="l">
                <a:lnSpc>
                  <a:spcPts val="3242"/>
                </a:lnSpc>
              </a:pPr>
              <a:r>
                <a:rPr lang="en-US" sz="2702">
                  <a:solidFill>
                    <a:srgbClr val="FFFFFF"/>
                  </a:solidFill>
                  <a:latin typeface="Calibri (MS)"/>
                  <a:ea typeface="Calibri (MS)"/>
                  <a:cs typeface="Calibri (MS)"/>
                  <a:sym typeface="Calibri (MS)"/>
                </a:rPr>
                <a:t>• Ensuring the generated content is useful and understandable.</a:t>
              </a:r>
            </a:p>
            <a:p>
              <a:pPr algn="l">
                <a:lnSpc>
                  <a:spcPts val="3242"/>
                </a:lnSpc>
              </a:pPr>
              <a:r>
                <a:rPr lang="en-US" sz="2702">
                  <a:solidFill>
                    <a:srgbClr val="FFFFFF"/>
                  </a:solidFill>
                  <a:latin typeface="Calibri (MS)"/>
                  <a:ea typeface="Calibri (MS)"/>
                  <a:cs typeface="Calibri (MS)"/>
                  <a:sym typeface="Calibri (MS)"/>
                </a:rPr>
                <a:t>• Managing incomplete or unclear user prompts.</a:t>
              </a:r>
            </a:p>
            <a:p>
              <a:pPr algn="l">
                <a:lnSpc>
                  <a:spcPts val="3242"/>
                </a:lnSpc>
              </a:pPr>
              <a:r>
                <a:rPr lang="en-US" sz="2702">
                  <a:solidFill>
                    <a:srgbClr val="FFFFFF"/>
                  </a:solidFill>
                  <a:latin typeface="Calibri (MS)"/>
                  <a:ea typeface="Calibri (MS)"/>
                  <a:cs typeface="Calibri (MS)"/>
                  <a:sym typeface="Calibri (MS)"/>
                </a:rPr>
                <a:t>• Avoiding irrelevant generated responses.</a:t>
              </a:r>
            </a:p>
            <a:p>
              <a:pPr algn="l">
                <a:lnSpc>
                  <a:spcPts val="3242"/>
                </a:lnSpc>
              </a:pPr>
              <a:r>
                <a:rPr lang="en-US" sz="2702">
                  <a:solidFill>
                    <a:srgbClr val="FFFFFF"/>
                  </a:solidFill>
                  <a:latin typeface="Calibri (MS)"/>
                  <a:ea typeface="Calibri (MS)"/>
                  <a:cs typeface="Calibri (MS)"/>
                  <a:sym typeface="Calibri (MS)"/>
                </a:rPr>
                <a:t>• Integrating the Generative AI model with the application.</a:t>
              </a:r>
            </a:p>
            <a:p>
              <a:pPr algn="l">
                <a:lnSpc>
                  <a:spcPts val="3242"/>
                </a:lnSpc>
              </a:pPr>
              <a:r>
                <a:rPr lang="en-US" sz="2702">
                  <a:solidFill>
                    <a:srgbClr val="FFFFFF"/>
                  </a:solidFill>
                  <a:latin typeface="Calibri (MS)"/>
                  <a:ea typeface="Calibri (MS)"/>
                  <a:cs typeface="Calibri (MS)"/>
                  <a:sym typeface="Calibri (MS)"/>
                </a:rPr>
                <a:t>• Evaluating the quality of generated content.</a:t>
              </a:r>
            </a:p>
            <a:p>
              <a:pPr algn="l">
                <a:lnSpc>
                  <a:spcPts val="3242"/>
                </a:lnSpc>
              </a:pPr>
            </a:p>
            <a:p>
              <a:pPr algn="l">
                <a:lnSpc>
                  <a:spcPts val="3242"/>
                </a:lnSpc>
              </a:pPr>
              <a:r>
                <a:rPr lang="en-US" sz="2702">
                  <a:solidFill>
                    <a:srgbClr val="FFFFFF"/>
                  </a:solidFill>
                  <a:latin typeface="Calibri (MS)"/>
                  <a:ea typeface="Calibri (MS)"/>
                  <a:cs typeface="Calibri (MS)"/>
                  <a:sym typeface="Calibri (MS)"/>
                </a:rPr>
                <a:t>These challenges provided practical understanding of Generative AI implementation.</a:t>
              </a:r>
            </a:p>
          </p:txBody>
        </p:sp>
      </p:grpSp>
      <p:sp>
        <p:nvSpPr>
          <p:cNvPr name="TextBox 6" id="6"/>
          <p:cNvSpPr txBox="true"/>
          <p:nvPr/>
        </p:nvSpPr>
        <p:spPr>
          <a:xfrm rot="0">
            <a:off x="1326842" y="2184844"/>
            <a:ext cx="15877384" cy="7240876"/>
          </a:xfrm>
          <a:prstGeom prst="rect">
            <a:avLst/>
          </a:prstGeom>
        </p:spPr>
        <p:txBody>
          <a:bodyPr anchor="t" rtlCol="false" tIns="0" lIns="0" bIns="0" rIns="0">
            <a:spAutoFit/>
          </a:bodyPr>
          <a:lstStyle/>
          <a:p>
            <a:pPr algn="l">
              <a:lnSpc>
                <a:spcPts val="3242"/>
              </a:lnSpc>
            </a:pPr>
            <a:r>
              <a:rPr lang="en-US" sz="2702">
                <a:solidFill>
                  <a:srgbClr val="282828"/>
                </a:solidFill>
                <a:latin typeface="Calibri (MS)"/>
                <a:ea typeface="Calibri (MS)"/>
                <a:cs typeface="Calibri (MS)"/>
                <a:sym typeface="Calibri (MS)"/>
              </a:rPr>
              <a:t>• Understanding different types of student requests.</a:t>
            </a:r>
          </a:p>
          <a:p>
            <a:pPr algn="l">
              <a:lnSpc>
                <a:spcPts val="3242"/>
              </a:lnSpc>
            </a:pPr>
            <a:r>
              <a:rPr lang="en-US" sz="2702">
                <a:solidFill>
                  <a:srgbClr val="282828"/>
                </a:solidFill>
                <a:latin typeface="Calibri (MS)"/>
                <a:ea typeface="Calibri (MS)"/>
                <a:cs typeface="Calibri (MS)"/>
                <a:sym typeface="Calibri (MS)"/>
              </a:rPr>
              <a:t>• Maintaining relevant context during multi-step conversations.</a:t>
            </a:r>
          </a:p>
          <a:p>
            <a:pPr algn="l">
              <a:lnSpc>
                <a:spcPts val="3242"/>
              </a:lnSpc>
            </a:pPr>
            <a:r>
              <a:rPr lang="en-US" sz="2702">
                <a:solidFill>
                  <a:srgbClr val="282828"/>
                </a:solidFill>
                <a:latin typeface="Calibri (MS)"/>
                <a:ea typeface="Calibri (MS)"/>
                <a:cs typeface="Calibri (MS)"/>
                <a:sym typeface="Calibri (MS)"/>
              </a:rPr>
              <a:t>• Producing accurate and useful recommendations.</a:t>
            </a:r>
          </a:p>
          <a:p>
            <a:pPr algn="l">
              <a:lnSpc>
                <a:spcPts val="3242"/>
              </a:lnSpc>
            </a:pPr>
            <a:r>
              <a:rPr lang="en-US" sz="2702">
                <a:solidFill>
                  <a:srgbClr val="282828"/>
                </a:solidFill>
                <a:latin typeface="Calibri (MS)"/>
                <a:ea typeface="Calibri (MS)"/>
                <a:cs typeface="Calibri (MS)"/>
                <a:sym typeface="Calibri (MS)"/>
              </a:rPr>
              <a:t>• Designing an effective agent workflow.</a:t>
            </a:r>
          </a:p>
          <a:p>
            <a:pPr algn="l">
              <a:lnSpc>
                <a:spcPts val="3242"/>
              </a:lnSpc>
            </a:pPr>
            <a:r>
              <a:rPr lang="en-US" sz="2702">
                <a:solidFill>
                  <a:srgbClr val="282828"/>
                </a:solidFill>
                <a:latin typeface="Calibri (MS)"/>
                <a:ea typeface="Calibri (MS)"/>
                <a:cs typeface="Calibri (MS)"/>
                <a:sym typeface="Calibri (MS)"/>
              </a:rPr>
              <a:t>• Connecting AI reasoning with external tools.</a:t>
            </a:r>
          </a:p>
          <a:p>
            <a:pPr algn="l">
              <a:lnSpc>
                <a:spcPts val="3242"/>
              </a:lnSpc>
            </a:pPr>
            <a:r>
              <a:rPr lang="en-US" sz="2702">
                <a:solidFill>
                  <a:srgbClr val="282828"/>
                </a:solidFill>
                <a:latin typeface="Calibri (MS)"/>
                <a:ea typeface="Calibri (MS)"/>
                <a:cs typeface="Calibri (MS)"/>
                <a:sym typeface="Calibri (MS)"/>
              </a:rPr>
              <a:t>• Managing incomplete user information.</a:t>
            </a:r>
          </a:p>
          <a:p>
            <a:pPr algn="l">
              <a:lnSpc>
                <a:spcPts val="3242"/>
              </a:lnSpc>
            </a:pPr>
            <a:r>
              <a:rPr lang="en-US" sz="2702">
                <a:solidFill>
                  <a:srgbClr val="282828"/>
                </a:solidFill>
                <a:latin typeface="Calibri (MS)"/>
                <a:ea typeface="Calibri (MS)"/>
                <a:cs typeface="Calibri (MS)"/>
                <a:sym typeface="Calibri (MS)"/>
              </a:rPr>
              <a:t>• Evaluating the quality of AI-generated responses.</a:t>
            </a:r>
          </a:p>
          <a:p>
            <a:pPr algn="l">
              <a:lnSpc>
                <a:spcPts val="3242"/>
              </a:lnSpc>
            </a:pPr>
          </a:p>
          <a:p>
            <a:pPr algn="l">
              <a:lnSpc>
                <a:spcPts val="3242"/>
              </a:lnSpc>
            </a:pPr>
            <a:r>
              <a:rPr lang="en-US" sz="2702">
                <a:solidFill>
                  <a:srgbClr val="282828"/>
                </a:solidFill>
                <a:latin typeface="Calibri (MS)"/>
                <a:ea typeface="Calibri (MS)"/>
                <a:cs typeface="Calibri (MS)"/>
                <a:sym typeface="Calibri (MS)"/>
              </a:rPr>
              <a:t>These challenges helped in understanding the practical implementation of Agentic AI systems.</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5F7FA"/>
        </a:solidFill>
      </p:bgPr>
    </p:bg>
    <p:spTree>
      <p:nvGrpSpPr>
        <p:cNvPr id="1" name=""/>
        <p:cNvGrpSpPr/>
        <p:nvPr/>
      </p:nvGrpSpPr>
      <p:grpSpPr>
        <a:xfrm>
          <a:off x="0" y="0"/>
          <a:ext cx="0" cy="0"/>
          <a:chOff x="0" y="0"/>
          <a:chExt cx="0" cy="0"/>
        </a:xfrm>
      </p:grpSpPr>
      <p:sp>
        <p:nvSpPr>
          <p:cNvPr name="TextBox 2" id="2"/>
          <p:cNvSpPr txBox="true"/>
          <p:nvPr/>
        </p:nvSpPr>
        <p:spPr>
          <a:xfrm rot="0">
            <a:off x="1052312" y="577701"/>
            <a:ext cx="16289188" cy="1092422"/>
          </a:xfrm>
          <a:prstGeom prst="rect">
            <a:avLst/>
          </a:prstGeom>
        </p:spPr>
        <p:txBody>
          <a:bodyPr anchor="t" rtlCol="false" tIns="0" lIns="0" bIns="0" rIns="0">
            <a:spAutoFit/>
          </a:bodyPr>
          <a:lstStyle/>
          <a:p>
            <a:pPr algn="l">
              <a:lnSpc>
                <a:spcPts val="5043"/>
              </a:lnSpc>
            </a:pPr>
            <a:r>
              <a:rPr lang="en-US" sz="4203" b="true">
                <a:solidFill>
                  <a:srgbClr val="000000"/>
                </a:solidFill>
                <a:latin typeface="Calibri (MS) Bold"/>
                <a:ea typeface="Calibri (MS) Bold"/>
                <a:cs typeface="Calibri (MS) Bold"/>
                <a:sym typeface="Calibri (MS) Bold"/>
              </a:rPr>
              <a:t>CONCLUSION &amp; FUTURE SCOPE</a:t>
            </a:r>
          </a:p>
        </p:txBody>
      </p:sp>
      <p:grpSp>
        <p:nvGrpSpPr>
          <p:cNvPr name="Group 3" id="3"/>
          <p:cNvGrpSpPr/>
          <p:nvPr/>
        </p:nvGrpSpPr>
        <p:grpSpPr>
          <a:xfrm rot="0">
            <a:off x="960872" y="1784471"/>
            <a:ext cx="2745343" cy="109814"/>
            <a:chOff x="0" y="0"/>
            <a:chExt cx="3660458" cy="146418"/>
          </a:xfrm>
        </p:grpSpPr>
        <p:sp>
          <p:nvSpPr>
            <p:cNvPr name="Freeform 4" id="4"/>
            <p:cNvSpPr/>
            <p:nvPr/>
          </p:nvSpPr>
          <p:spPr>
            <a:xfrm flipH="false" flipV="false" rot="0">
              <a:off x="0" y="0"/>
              <a:ext cx="3660521" cy="146431"/>
            </a:xfrm>
            <a:custGeom>
              <a:avLst/>
              <a:gdLst/>
              <a:ahLst/>
              <a:cxnLst/>
              <a:rect r="r" b="b" t="t" l="l"/>
              <a:pathLst>
                <a:path h="146431" w="3660521">
                  <a:moveTo>
                    <a:pt x="0" y="0"/>
                  </a:moveTo>
                  <a:lnTo>
                    <a:pt x="3660521" y="0"/>
                  </a:lnTo>
                  <a:lnTo>
                    <a:pt x="3660521" y="146431"/>
                  </a:lnTo>
                  <a:lnTo>
                    <a:pt x="0" y="146431"/>
                  </a:lnTo>
                  <a:close/>
                </a:path>
              </a:pathLst>
            </a:custGeom>
            <a:solidFill>
              <a:srgbClr val="3278B4"/>
            </a:solidFill>
          </p:spPr>
        </p:sp>
        <p:sp>
          <p:nvSpPr>
            <p:cNvPr name="TextBox 5" id="5"/>
            <p:cNvSpPr txBox="true"/>
            <p:nvPr/>
          </p:nvSpPr>
          <p:spPr>
            <a:xfrm>
              <a:off x="0" y="-57150"/>
              <a:ext cx="3660458" cy="203568"/>
            </a:xfrm>
            <a:prstGeom prst="rect">
              <a:avLst/>
            </a:prstGeom>
          </p:spPr>
          <p:txBody>
            <a:bodyPr anchor="ctr" rtlCol="false" tIns="50800" lIns="50800" bIns="50800" rIns="50800"/>
            <a:lstStyle/>
            <a:p>
              <a:pPr algn="l">
                <a:lnSpc>
                  <a:spcPts val="3242"/>
                </a:lnSpc>
              </a:pPr>
              <a:r>
                <a:rPr lang="en-US" sz="2702">
                  <a:solidFill>
                    <a:srgbClr val="FFFFFF"/>
                  </a:solidFill>
                  <a:latin typeface="Calibri (MS)"/>
                  <a:ea typeface="Calibri (MS)"/>
                  <a:cs typeface="Calibri (MS)"/>
                  <a:sym typeface="Calibri (MS)"/>
                </a:rPr>
                <a:t>Conclusion</a:t>
              </a:r>
            </a:p>
            <a:p>
              <a:pPr algn="l">
                <a:lnSpc>
                  <a:spcPts val="3242"/>
                </a:lnSpc>
              </a:pPr>
              <a:r>
                <a:rPr lang="en-US" sz="2702">
                  <a:solidFill>
                    <a:srgbClr val="FFFFFF"/>
                  </a:solidFill>
                  <a:latin typeface="Calibri (MS)"/>
                  <a:ea typeface="Calibri (MS)"/>
                  <a:cs typeface="Calibri (MS)"/>
                  <a:sym typeface="Calibri (MS)"/>
                </a:rPr>
                <a:t>The Generative AI-Powered Student Assistant demonstrates how Generative Artificial Intelligence can support students by generating useful, personalized, and relevant content. The system simplifies tasks such as learning, summarization, idea generation, and content preparation.</a:t>
              </a:r>
            </a:p>
            <a:p>
              <a:pPr algn="l">
                <a:lnSpc>
                  <a:spcPts val="3242"/>
                </a:lnSpc>
              </a:pPr>
            </a:p>
            <a:p>
              <a:pPr algn="l">
                <a:lnSpc>
                  <a:spcPts val="3242"/>
                </a:lnSpc>
              </a:pPr>
              <a:r>
                <a:rPr lang="en-US" sz="2702">
                  <a:solidFill>
                    <a:srgbClr val="FFFFFF"/>
                  </a:solidFill>
                  <a:latin typeface="Calibri (MS)"/>
                  <a:ea typeface="Calibri (MS)"/>
                  <a:cs typeface="Calibri (MS)"/>
                  <a:sym typeface="Calibri (MS)"/>
                </a:rPr>
                <a:t>The project highlights the potential of Generative AI and Large Language Models in education and productivity.</a:t>
              </a:r>
            </a:p>
            <a:p>
              <a:pPr algn="l">
                <a:lnSpc>
                  <a:spcPts val="3242"/>
                </a:lnSpc>
              </a:pPr>
            </a:p>
            <a:p>
              <a:pPr algn="l">
                <a:lnSpc>
                  <a:spcPts val="3242"/>
                </a:lnSpc>
              </a:pPr>
              <a:r>
                <a:rPr lang="en-US" sz="2702">
                  <a:solidFill>
                    <a:srgbClr val="FFFFFF"/>
                  </a:solidFill>
                  <a:latin typeface="Calibri (MS)"/>
                  <a:ea typeface="Calibri (MS)"/>
                  <a:cs typeface="Calibri (MS)"/>
                  <a:sym typeface="Calibri (MS)"/>
                </a:rPr>
                <a:t>Future Enhancements</a:t>
              </a:r>
            </a:p>
            <a:p>
              <a:pPr algn="l">
                <a:lnSpc>
                  <a:spcPts val="3242"/>
                </a:lnSpc>
              </a:pPr>
              <a:r>
                <a:rPr lang="en-US" sz="2702">
                  <a:solidFill>
                    <a:srgbClr val="FFFFFF"/>
                  </a:solidFill>
                  <a:latin typeface="Calibri (MS)"/>
                  <a:ea typeface="Calibri (MS)"/>
                  <a:cs typeface="Calibri (MS)"/>
                  <a:sym typeface="Calibri (MS)"/>
                </a:rPr>
                <a:t>• Voice-based interaction.</a:t>
              </a:r>
            </a:p>
            <a:p>
              <a:pPr algn="l">
                <a:lnSpc>
                  <a:spcPts val="3242"/>
                </a:lnSpc>
              </a:pPr>
              <a:r>
                <a:rPr lang="en-US" sz="2702">
                  <a:solidFill>
                    <a:srgbClr val="FFFFFF"/>
                  </a:solidFill>
                  <a:latin typeface="Calibri (MS)"/>
                  <a:ea typeface="Calibri (MS)"/>
                  <a:cs typeface="Calibri (MS)"/>
                  <a:sym typeface="Calibri (MS)"/>
                </a:rPr>
                <a:t>• Image generation support.</a:t>
              </a:r>
            </a:p>
            <a:p>
              <a:pPr algn="l">
                <a:lnSpc>
                  <a:spcPts val="3242"/>
                </a:lnSpc>
              </a:pPr>
              <a:r>
                <a:rPr lang="en-US" sz="2702">
                  <a:solidFill>
                    <a:srgbClr val="FFFFFF"/>
                  </a:solidFill>
                  <a:latin typeface="Calibri (MS)"/>
                  <a:ea typeface="Calibri (MS)"/>
                  <a:cs typeface="Calibri (MS)"/>
                  <a:sym typeface="Calibri (MS)"/>
                </a:rPr>
                <a:t>• Multilingual content generation.</a:t>
              </a:r>
            </a:p>
            <a:p>
              <a:pPr algn="l">
                <a:lnSpc>
                  <a:spcPts val="3242"/>
                </a:lnSpc>
              </a:pPr>
              <a:r>
                <a:rPr lang="en-US" sz="2702">
                  <a:solidFill>
                    <a:srgbClr val="FFFFFF"/>
                  </a:solidFill>
                  <a:latin typeface="Calibri (MS)"/>
                  <a:ea typeface="Calibri (MS)"/>
                  <a:cs typeface="Calibri (MS)"/>
                  <a:sym typeface="Calibri (MS)"/>
                </a:rPr>
                <a:t>• Personalized learning recommendations.</a:t>
              </a:r>
            </a:p>
            <a:p>
              <a:pPr algn="l">
                <a:lnSpc>
                  <a:spcPts val="3242"/>
                </a:lnSpc>
              </a:pPr>
              <a:r>
                <a:rPr lang="en-US" sz="2702">
                  <a:solidFill>
                    <a:srgbClr val="FFFFFF"/>
                  </a:solidFill>
                  <a:latin typeface="Calibri (MS)"/>
                  <a:ea typeface="Calibri (MS)"/>
                  <a:cs typeface="Calibri (MS)"/>
                  <a:sym typeface="Calibri (MS)"/>
                </a:rPr>
                <a:t>• Integration with educational resources.</a:t>
              </a:r>
            </a:p>
            <a:p>
              <a:pPr algn="l">
                <a:lnSpc>
                  <a:spcPts val="3242"/>
                </a:lnSpc>
              </a:pPr>
              <a:r>
                <a:rPr lang="en-US" sz="2702">
                  <a:solidFill>
                    <a:srgbClr val="FFFFFF"/>
                  </a:solidFill>
                  <a:latin typeface="Calibri (MS)"/>
                  <a:ea typeface="Calibri (MS)"/>
                  <a:cs typeface="Calibri (MS)"/>
                  <a:sym typeface="Calibri (MS)"/>
                </a:rPr>
                <a:t>• Mobile application development.</a:t>
              </a:r>
            </a:p>
            <a:p>
              <a:pPr algn="l">
                <a:lnSpc>
                  <a:spcPts val="3242"/>
                </a:lnSpc>
              </a:pPr>
              <a:r>
                <a:rPr lang="en-US" sz="2702">
                  <a:solidFill>
                    <a:srgbClr val="FFFFFF"/>
                  </a:solidFill>
                  <a:latin typeface="Calibri (MS)"/>
                  <a:ea typeface="Calibri (MS)"/>
                  <a:cs typeface="Calibri (MS)"/>
                  <a:sym typeface="Calibri (MS)"/>
                </a:rPr>
                <a:t>• Advanced document summarization.</a:t>
              </a:r>
            </a:p>
            <a:p>
              <a:pPr algn="l">
                <a:lnSpc>
                  <a:spcPts val="3242"/>
                </a:lnSpc>
              </a:pPr>
              <a:r>
                <a:rPr lang="en-US" sz="2702">
                  <a:solidFill>
                    <a:srgbClr val="FFFFFF"/>
                  </a:solidFill>
                  <a:latin typeface="Calibri (MS)"/>
                  <a:ea typeface="Calibri (MS)"/>
                  <a:cs typeface="Calibri (MS)"/>
                  <a:sym typeface="Calibri (MS)"/>
                </a:rPr>
                <a:t>• Integration with additional IBM AI services.</a:t>
              </a:r>
            </a:p>
          </p:txBody>
        </p:sp>
      </p:grpSp>
      <p:sp>
        <p:nvSpPr>
          <p:cNvPr name="TextBox 6" id="6"/>
          <p:cNvSpPr txBox="true"/>
          <p:nvPr/>
        </p:nvSpPr>
        <p:spPr>
          <a:xfrm rot="0">
            <a:off x="1326842" y="2184844"/>
            <a:ext cx="15877384" cy="7240876"/>
          </a:xfrm>
          <a:prstGeom prst="rect">
            <a:avLst/>
          </a:prstGeom>
        </p:spPr>
        <p:txBody>
          <a:bodyPr anchor="t" rtlCol="false" tIns="0" lIns="0" bIns="0" rIns="0">
            <a:spAutoFit/>
          </a:bodyPr>
          <a:lstStyle/>
          <a:p>
            <a:pPr algn="l">
              <a:lnSpc>
                <a:spcPts val="3242"/>
              </a:lnSpc>
            </a:pPr>
            <a:r>
              <a:rPr lang="en-US" sz="2702">
                <a:solidFill>
                  <a:srgbClr val="282828"/>
                </a:solidFill>
                <a:latin typeface="Calibri (MS)"/>
                <a:ea typeface="Calibri (MS)"/>
                <a:cs typeface="Calibri (MS)"/>
                <a:sym typeface="Calibri (MS)"/>
              </a:rPr>
              <a:t>Conclusion</a:t>
            </a:r>
          </a:p>
          <a:p>
            <a:pPr algn="l">
              <a:lnSpc>
                <a:spcPts val="3242"/>
              </a:lnSpc>
            </a:pPr>
            <a:r>
              <a:rPr lang="en-US" sz="2702">
                <a:solidFill>
                  <a:srgbClr val="282828"/>
                </a:solidFill>
                <a:latin typeface="Calibri (MS)"/>
                <a:ea typeface="Calibri (MS)"/>
                <a:cs typeface="Calibri (MS)"/>
                <a:sym typeface="Calibri (MS)"/>
              </a:rPr>
              <a:t>The AI-Powered Student Internship Assistant demonstrates the practical use of Agentic AI in education and career guidance. Unlike a traditional chatbot, the system can understand goals, plan actions, process information, and provide personalized recommendations.</a:t>
            </a:r>
          </a:p>
          <a:p>
            <a:pPr algn="l">
              <a:lnSpc>
                <a:spcPts val="3242"/>
              </a:lnSpc>
            </a:pPr>
          </a:p>
          <a:p>
            <a:pPr algn="l">
              <a:lnSpc>
                <a:spcPts val="3242"/>
              </a:lnSpc>
            </a:pPr>
            <a:r>
              <a:rPr lang="en-US" sz="2702">
                <a:solidFill>
                  <a:srgbClr val="282828"/>
                </a:solidFill>
                <a:latin typeface="Calibri (MS)"/>
                <a:ea typeface="Calibri (MS)"/>
                <a:cs typeface="Calibri (MS)"/>
                <a:sym typeface="Calibri (MS)"/>
              </a:rPr>
              <a:t>The project shows how Agentic AI can make student support systems more intelligent, interactive, and goal-oriented.</a:t>
            </a:r>
          </a:p>
          <a:p>
            <a:pPr algn="l">
              <a:lnSpc>
                <a:spcPts val="3242"/>
              </a:lnSpc>
            </a:pPr>
          </a:p>
          <a:p>
            <a:pPr algn="l">
              <a:lnSpc>
                <a:spcPts val="3242"/>
              </a:lnSpc>
            </a:pPr>
            <a:r>
              <a:rPr lang="en-US" sz="2702">
                <a:solidFill>
                  <a:srgbClr val="282828"/>
                </a:solidFill>
                <a:latin typeface="Calibri (MS)"/>
                <a:ea typeface="Calibri (MS)"/>
                <a:cs typeface="Calibri (MS)"/>
                <a:sym typeface="Calibri (MS)"/>
              </a:rPr>
              <a:t>Future Enhancements</a:t>
            </a:r>
          </a:p>
          <a:p>
            <a:pPr algn="l">
              <a:lnSpc>
                <a:spcPts val="3242"/>
              </a:lnSpc>
            </a:pPr>
            <a:r>
              <a:rPr lang="en-US" sz="2702">
                <a:solidFill>
                  <a:srgbClr val="282828"/>
                </a:solidFill>
                <a:latin typeface="Calibri (MS)"/>
                <a:ea typeface="Calibri (MS)"/>
                <a:cs typeface="Calibri (MS)"/>
                <a:sym typeface="Calibri (MS)"/>
              </a:rPr>
              <a:t>• Integration with real internship portals.</a:t>
            </a:r>
          </a:p>
          <a:p>
            <a:pPr algn="l">
              <a:lnSpc>
                <a:spcPts val="3242"/>
              </a:lnSpc>
            </a:pPr>
            <a:r>
              <a:rPr lang="en-US" sz="2702">
                <a:solidFill>
                  <a:srgbClr val="282828"/>
                </a:solidFill>
                <a:latin typeface="Calibri (MS)"/>
                <a:ea typeface="Calibri (MS)"/>
                <a:cs typeface="Calibri (MS)"/>
                <a:sym typeface="Calibri (MS)"/>
              </a:rPr>
              <a:t>• Resume scoring and improvement.</a:t>
            </a:r>
          </a:p>
          <a:p>
            <a:pPr algn="l">
              <a:lnSpc>
                <a:spcPts val="3242"/>
              </a:lnSpc>
            </a:pPr>
            <a:r>
              <a:rPr lang="en-US" sz="2702">
                <a:solidFill>
                  <a:srgbClr val="282828"/>
                </a:solidFill>
                <a:latin typeface="Calibri (MS)"/>
                <a:ea typeface="Calibri (MS)"/>
                <a:cs typeface="Calibri (MS)"/>
                <a:sym typeface="Calibri (MS)"/>
              </a:rPr>
              <a:t>• Voice-based interaction.</a:t>
            </a:r>
          </a:p>
          <a:p>
            <a:pPr algn="l">
              <a:lnSpc>
                <a:spcPts val="3242"/>
              </a:lnSpc>
            </a:pPr>
            <a:r>
              <a:rPr lang="en-US" sz="2702">
                <a:solidFill>
                  <a:srgbClr val="282828"/>
                </a:solidFill>
                <a:latin typeface="Calibri (MS)"/>
                <a:ea typeface="Calibri (MS)"/>
                <a:cs typeface="Calibri (MS)"/>
                <a:sym typeface="Calibri (MS)"/>
              </a:rPr>
              <a:t>• Personalized internship matching.</a:t>
            </a:r>
          </a:p>
          <a:p>
            <a:pPr algn="l">
              <a:lnSpc>
                <a:spcPts val="3242"/>
              </a:lnSpc>
            </a:pPr>
            <a:r>
              <a:rPr lang="en-US" sz="2702">
                <a:solidFill>
                  <a:srgbClr val="282828"/>
                </a:solidFill>
                <a:latin typeface="Calibri (MS)"/>
                <a:ea typeface="Calibri (MS)"/>
                <a:cs typeface="Calibri (MS)"/>
                <a:sym typeface="Calibri (MS)"/>
              </a:rPr>
              <a:t>• Integration with LinkedIn and job APIs.</a:t>
            </a:r>
          </a:p>
          <a:p>
            <a:pPr algn="l">
              <a:lnSpc>
                <a:spcPts val="3242"/>
              </a:lnSpc>
            </a:pPr>
            <a:r>
              <a:rPr lang="en-US" sz="2702">
                <a:solidFill>
                  <a:srgbClr val="282828"/>
                </a:solidFill>
                <a:latin typeface="Calibri (MS)"/>
                <a:ea typeface="Calibri (MS)"/>
                <a:cs typeface="Calibri (MS)"/>
                <a:sym typeface="Calibri (MS)"/>
              </a:rPr>
              <a:t>• Advanced long-term memory.</a:t>
            </a:r>
          </a:p>
          <a:p>
            <a:pPr algn="l">
              <a:lnSpc>
                <a:spcPts val="3242"/>
              </a:lnSpc>
            </a:pPr>
            <a:r>
              <a:rPr lang="en-US" sz="2702">
                <a:solidFill>
                  <a:srgbClr val="282828"/>
                </a:solidFill>
                <a:latin typeface="Calibri (MS)"/>
                <a:ea typeface="Calibri (MS)"/>
                <a:cs typeface="Calibri (MS)"/>
                <a:sym typeface="Calibri (MS)"/>
              </a:rPr>
              <a:t>• Multilingual support.</a:t>
            </a:r>
          </a:p>
          <a:p>
            <a:pPr algn="l">
              <a:lnSpc>
                <a:spcPts val="3242"/>
              </a:lnSpc>
            </a:pPr>
            <a:r>
              <a:rPr lang="en-US" sz="2702">
                <a:solidFill>
                  <a:srgbClr val="282828"/>
                </a:solidFill>
                <a:latin typeface="Calibri (MS)"/>
                <a:ea typeface="Calibri (MS)"/>
                <a:cs typeface="Calibri (MS)"/>
                <a:sym typeface="Calibri (MS)"/>
              </a:rPr>
              <a:t>• Mobile application development.</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5F7FA"/>
        </a:solidFill>
      </p:bgPr>
    </p:bg>
    <p:spTree>
      <p:nvGrpSpPr>
        <p:cNvPr id="1" name=""/>
        <p:cNvGrpSpPr/>
        <p:nvPr/>
      </p:nvGrpSpPr>
      <p:grpSpPr>
        <a:xfrm>
          <a:off x="0" y="0"/>
          <a:ext cx="0" cy="0"/>
          <a:chOff x="0" y="0"/>
          <a:chExt cx="0" cy="0"/>
        </a:xfrm>
      </p:grpSpPr>
      <p:sp>
        <p:nvSpPr>
          <p:cNvPr name="TextBox 2" id="2"/>
          <p:cNvSpPr txBox="true"/>
          <p:nvPr/>
        </p:nvSpPr>
        <p:spPr>
          <a:xfrm rot="0">
            <a:off x="1052312" y="577701"/>
            <a:ext cx="16289188" cy="1092422"/>
          </a:xfrm>
          <a:prstGeom prst="rect">
            <a:avLst/>
          </a:prstGeom>
        </p:spPr>
        <p:txBody>
          <a:bodyPr anchor="t" rtlCol="false" tIns="0" lIns="0" bIns="0" rIns="0">
            <a:spAutoFit/>
          </a:bodyPr>
          <a:lstStyle/>
          <a:p>
            <a:pPr algn="l">
              <a:lnSpc>
                <a:spcPts val="5043"/>
              </a:lnSpc>
            </a:pPr>
            <a:r>
              <a:rPr lang="en-US" sz="4203" b="true">
                <a:solidFill>
                  <a:srgbClr val="000000"/>
                </a:solidFill>
                <a:latin typeface="Calibri (MS) Bold"/>
                <a:ea typeface="Calibri (MS) Bold"/>
                <a:cs typeface="Calibri (MS) Bold"/>
                <a:sym typeface="Calibri (MS) Bold"/>
              </a:rPr>
              <a:t>REFERENCES</a:t>
            </a:r>
          </a:p>
        </p:txBody>
      </p:sp>
      <p:grpSp>
        <p:nvGrpSpPr>
          <p:cNvPr name="Group 3" id="3"/>
          <p:cNvGrpSpPr/>
          <p:nvPr/>
        </p:nvGrpSpPr>
        <p:grpSpPr>
          <a:xfrm rot="0">
            <a:off x="960872" y="1784471"/>
            <a:ext cx="2745343" cy="109814"/>
            <a:chOff x="0" y="0"/>
            <a:chExt cx="3660458" cy="146418"/>
          </a:xfrm>
        </p:grpSpPr>
        <p:sp>
          <p:nvSpPr>
            <p:cNvPr name="Freeform 4" id="4"/>
            <p:cNvSpPr/>
            <p:nvPr/>
          </p:nvSpPr>
          <p:spPr>
            <a:xfrm flipH="false" flipV="false" rot="0">
              <a:off x="0" y="0"/>
              <a:ext cx="3660521" cy="146431"/>
            </a:xfrm>
            <a:custGeom>
              <a:avLst/>
              <a:gdLst/>
              <a:ahLst/>
              <a:cxnLst/>
              <a:rect r="r" b="b" t="t" l="l"/>
              <a:pathLst>
                <a:path h="146431" w="3660521">
                  <a:moveTo>
                    <a:pt x="0" y="0"/>
                  </a:moveTo>
                  <a:lnTo>
                    <a:pt x="3660521" y="0"/>
                  </a:lnTo>
                  <a:lnTo>
                    <a:pt x="3660521" y="146431"/>
                  </a:lnTo>
                  <a:lnTo>
                    <a:pt x="0" y="146431"/>
                  </a:lnTo>
                  <a:close/>
                </a:path>
              </a:pathLst>
            </a:custGeom>
            <a:solidFill>
              <a:srgbClr val="3278B4"/>
            </a:solidFill>
          </p:spPr>
        </p:sp>
        <p:sp>
          <p:nvSpPr>
            <p:cNvPr name="TextBox 5" id="5"/>
            <p:cNvSpPr txBox="true"/>
            <p:nvPr/>
          </p:nvSpPr>
          <p:spPr>
            <a:xfrm>
              <a:off x="0" y="-57150"/>
              <a:ext cx="3660458" cy="203568"/>
            </a:xfrm>
            <a:prstGeom prst="rect">
              <a:avLst/>
            </a:prstGeom>
          </p:spPr>
          <p:txBody>
            <a:bodyPr anchor="ctr" rtlCol="false" tIns="50800" lIns="50800" bIns="50800" rIns="50800"/>
            <a:lstStyle/>
            <a:p>
              <a:pPr algn="l">
                <a:lnSpc>
                  <a:spcPts val="3242"/>
                </a:lnSpc>
              </a:pPr>
              <a:r>
                <a:rPr lang="en-US" sz="2702">
                  <a:solidFill>
                    <a:srgbClr val="FFFFFF"/>
                  </a:solidFill>
                  <a:latin typeface="Calibri (MS)"/>
                  <a:ea typeface="Calibri (MS)"/>
                  <a:cs typeface="Calibri (MS)"/>
                  <a:sym typeface="Calibri (MS)"/>
                </a:rPr>
                <a:t>• IBM SkillsBuild – Generative AI Learning Resources</a:t>
              </a:r>
            </a:p>
            <a:p>
              <a:pPr algn="l">
                <a:lnSpc>
                  <a:spcPts val="3242"/>
                </a:lnSpc>
              </a:pPr>
              <a:r>
                <a:rPr lang="en-US" sz="2702">
                  <a:solidFill>
                    <a:srgbClr val="FFFFFF"/>
                  </a:solidFill>
                  <a:latin typeface="Calibri (MS)"/>
                  <a:ea typeface="Calibri (MS)"/>
                  <a:cs typeface="Calibri (MS)"/>
                  <a:sym typeface="Calibri (MS)"/>
                </a:rPr>
                <a:t>• IBM watsonx Documentation</a:t>
              </a:r>
            </a:p>
            <a:p>
              <a:pPr algn="l">
                <a:lnSpc>
                  <a:spcPts val="3242"/>
                </a:lnSpc>
              </a:pPr>
              <a:r>
                <a:rPr lang="en-US" sz="2702">
                  <a:solidFill>
                    <a:srgbClr val="FFFFFF"/>
                  </a:solidFill>
                  <a:latin typeface="Calibri (MS)"/>
                  <a:ea typeface="Calibri (MS)"/>
                  <a:cs typeface="Calibri (MS)"/>
                  <a:sym typeface="Calibri (MS)"/>
                </a:rPr>
                <a:t>• Python Documentation</a:t>
              </a:r>
            </a:p>
            <a:p>
              <a:pPr algn="l">
                <a:lnSpc>
                  <a:spcPts val="3242"/>
                </a:lnSpc>
              </a:pPr>
              <a:r>
                <a:rPr lang="en-US" sz="2702">
                  <a:solidFill>
                    <a:srgbClr val="FFFFFF"/>
                  </a:solidFill>
                  <a:latin typeface="Calibri (MS)"/>
                  <a:ea typeface="Calibri (MS)"/>
                  <a:cs typeface="Calibri (MS)"/>
                  <a:sym typeface="Calibri (MS)"/>
                </a:rPr>
                <a:t>• Large Language Model Learning Resources</a:t>
              </a:r>
            </a:p>
            <a:p>
              <a:pPr algn="l">
                <a:lnSpc>
                  <a:spcPts val="3242"/>
                </a:lnSpc>
              </a:pPr>
              <a:r>
                <a:rPr lang="en-US" sz="2702">
                  <a:solidFill>
                    <a:srgbClr val="FFFFFF"/>
                  </a:solidFill>
                  <a:latin typeface="Calibri (MS)"/>
                  <a:ea typeface="Calibri (MS)"/>
                  <a:cs typeface="Calibri (MS)"/>
                  <a:sym typeface="Calibri (MS)"/>
                </a:rPr>
                <a:t>• Generative AI Educational Materials</a:t>
              </a:r>
            </a:p>
            <a:p>
              <a:pPr algn="l">
                <a:lnSpc>
                  <a:spcPts val="3242"/>
                </a:lnSpc>
              </a:pPr>
              <a:r>
                <a:rPr lang="en-US" sz="2702">
                  <a:solidFill>
                    <a:srgbClr val="FFFFFF"/>
                  </a:solidFill>
                  <a:latin typeface="Calibri (MS)"/>
                  <a:ea typeface="Calibri (MS)"/>
                  <a:cs typeface="Calibri (MS)"/>
                  <a:sym typeface="Calibri (MS)"/>
                </a:rPr>
                <a:t>• Nan Mudhalvan Internship Learning Resources</a:t>
              </a:r>
            </a:p>
            <a:p>
              <a:pPr algn="l">
                <a:lnSpc>
                  <a:spcPts val="3242"/>
                </a:lnSpc>
              </a:pPr>
            </a:p>
            <a:p>
              <a:pPr algn="l">
                <a:lnSpc>
                  <a:spcPts val="3242"/>
                </a:lnSpc>
              </a:pPr>
              <a:r>
                <a:rPr lang="en-US" sz="2702">
                  <a:solidFill>
                    <a:srgbClr val="FFFFFF"/>
                  </a:solidFill>
                  <a:latin typeface="Calibri (MS)"/>
                  <a:ea typeface="Calibri (MS)"/>
                  <a:cs typeface="Calibri (MS)"/>
                  <a:sym typeface="Calibri (MS)"/>
                </a:rPr>
                <a:t>Thank You</a:t>
              </a:r>
            </a:p>
            <a:p>
              <a:pPr algn="l">
                <a:lnSpc>
                  <a:spcPts val="3242"/>
                </a:lnSpc>
              </a:pPr>
            </a:p>
            <a:p>
              <a:pPr algn="l">
                <a:lnSpc>
                  <a:spcPts val="3242"/>
                </a:lnSpc>
              </a:pPr>
              <a:r>
                <a:rPr lang="en-US" sz="2702">
                  <a:solidFill>
                    <a:srgbClr val="FFFFFF"/>
                  </a:solidFill>
                  <a:latin typeface="Calibri (MS)"/>
                  <a:ea typeface="Calibri (MS)"/>
                  <a:cs typeface="Calibri (MS)"/>
                  <a:sym typeface="Calibri (MS)"/>
                </a:rPr>
                <a:t>Questions &amp; Answers</a:t>
              </a:r>
            </a:p>
          </p:txBody>
        </p:sp>
      </p:grpSp>
      <p:sp>
        <p:nvSpPr>
          <p:cNvPr name="TextBox 6" id="6"/>
          <p:cNvSpPr txBox="true"/>
          <p:nvPr/>
        </p:nvSpPr>
        <p:spPr>
          <a:xfrm rot="0">
            <a:off x="1326842" y="2184844"/>
            <a:ext cx="15877384" cy="7240876"/>
          </a:xfrm>
          <a:prstGeom prst="rect">
            <a:avLst/>
          </a:prstGeom>
        </p:spPr>
        <p:txBody>
          <a:bodyPr anchor="t" rtlCol="false" tIns="0" lIns="0" bIns="0" rIns="0">
            <a:spAutoFit/>
          </a:bodyPr>
          <a:lstStyle/>
          <a:p>
            <a:pPr algn="l">
              <a:lnSpc>
                <a:spcPts val="3242"/>
              </a:lnSpc>
            </a:pPr>
            <a:r>
              <a:rPr lang="en-US" sz="2702">
                <a:solidFill>
                  <a:srgbClr val="282828"/>
                </a:solidFill>
                <a:latin typeface="Calibri (MS)"/>
                <a:ea typeface="Calibri (MS)"/>
                <a:cs typeface="Calibri (MS)"/>
                <a:sym typeface="Calibri (MS)"/>
              </a:rPr>
              <a:t>• IBM SkillsBuild – Agentic AI Learning Resources</a:t>
            </a:r>
          </a:p>
          <a:p>
            <a:pPr algn="l">
              <a:lnSpc>
                <a:spcPts val="3242"/>
              </a:lnSpc>
            </a:pPr>
            <a:r>
              <a:rPr lang="en-US" sz="2702">
                <a:solidFill>
                  <a:srgbClr val="282828"/>
                </a:solidFill>
                <a:latin typeface="Calibri (MS)"/>
                <a:ea typeface="Calibri (MS)"/>
                <a:cs typeface="Calibri (MS)"/>
                <a:sym typeface="Calibri (MS)"/>
              </a:rPr>
              <a:t>• IBM watsonx Documentation</a:t>
            </a:r>
          </a:p>
          <a:p>
            <a:pPr algn="l">
              <a:lnSpc>
                <a:spcPts val="3242"/>
              </a:lnSpc>
            </a:pPr>
            <a:r>
              <a:rPr lang="en-US" sz="2702">
                <a:solidFill>
                  <a:srgbClr val="282828"/>
                </a:solidFill>
                <a:latin typeface="Calibri (MS)"/>
                <a:ea typeface="Calibri (MS)"/>
                <a:cs typeface="Calibri (MS)"/>
                <a:sym typeface="Calibri (MS)"/>
              </a:rPr>
              <a:t>• Python Documentation</a:t>
            </a:r>
          </a:p>
          <a:p>
            <a:pPr algn="l">
              <a:lnSpc>
                <a:spcPts val="3242"/>
              </a:lnSpc>
            </a:pPr>
            <a:r>
              <a:rPr lang="en-US" sz="2702">
                <a:solidFill>
                  <a:srgbClr val="282828"/>
                </a:solidFill>
                <a:latin typeface="Calibri (MS)"/>
                <a:ea typeface="Calibri (MS)"/>
                <a:cs typeface="Calibri (MS)"/>
                <a:sym typeface="Calibri (MS)"/>
              </a:rPr>
              <a:t>• Artificial Intelligence and Large Language Model Learning Materials</a:t>
            </a:r>
          </a:p>
          <a:p>
            <a:pPr algn="l">
              <a:lnSpc>
                <a:spcPts val="3242"/>
              </a:lnSpc>
            </a:pPr>
            <a:r>
              <a:rPr lang="en-US" sz="2702">
                <a:solidFill>
                  <a:srgbClr val="282828"/>
                </a:solidFill>
                <a:latin typeface="Calibri (MS)"/>
                <a:ea typeface="Calibri (MS)"/>
                <a:cs typeface="Calibri (MS)"/>
                <a:sym typeface="Calibri (MS)"/>
              </a:rPr>
              <a:t>• Nan Mudhalvan Internship Learning Resources</a:t>
            </a:r>
          </a:p>
          <a:p>
            <a:pPr algn="l">
              <a:lnSpc>
                <a:spcPts val="3242"/>
              </a:lnSpc>
            </a:pPr>
          </a:p>
          <a:p>
            <a:pPr algn="l">
              <a:lnSpc>
                <a:spcPts val="3242"/>
              </a:lnSpc>
            </a:pPr>
            <a:r>
              <a:rPr lang="en-US" sz="2702">
                <a:solidFill>
                  <a:srgbClr val="282828"/>
                </a:solidFill>
                <a:latin typeface="Calibri (MS)"/>
                <a:ea typeface="Calibri (MS)"/>
                <a:cs typeface="Calibri (MS)"/>
                <a:sym typeface="Calibri (MS)"/>
              </a:rPr>
              <a:t>Thank You</a:t>
            </a:r>
          </a:p>
          <a:p>
            <a:pPr algn="l">
              <a:lnSpc>
                <a:spcPts val="3242"/>
              </a:lnSpc>
            </a:pPr>
          </a:p>
          <a:p>
            <a:pPr algn="l">
              <a:lnSpc>
                <a:spcPts val="3242"/>
              </a:lnSpc>
            </a:pPr>
            <a:r>
              <a:rPr lang="en-US" sz="2702">
                <a:solidFill>
                  <a:srgbClr val="282828"/>
                </a:solidFill>
                <a:latin typeface="Calibri (MS)"/>
                <a:ea typeface="Calibri (MS)"/>
                <a:cs typeface="Calibri (MS)"/>
                <a:sym typeface="Calibri (MS)"/>
              </a:rPr>
              <a:t>Questions &amp; Answers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DAHUyAciZ6w</dc:identifier>
  <dcterms:modified xsi:type="dcterms:W3CDTF">2011-08-01T06:04:30Z</dcterms:modified>
  <cp:revision>1</cp:revision>
  <dc:title>IBM_Nan_Mudhalvan_Generative_AI_Project_Presentation-4.pptx</dc:title>
</cp:coreProperties>
</file>